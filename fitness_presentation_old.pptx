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CA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CA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CA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notes' format</a:t>
            </a:r>
            <a:endParaRPr lang="en-CA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CA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CA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CA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CA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CA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CA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CA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CA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CA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E1141AE8-2749-428C-B751-3839E41989B9}" type="slidenum">
              <a:rPr lang="en-CA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CA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60483E5-2427-4CA0-A08B-6B3B44E11AA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CA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59703C8-9F23-4F36-9CF3-48C444DD3A2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CA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3F60CA8-D071-40CA-8C4D-46330569B74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CA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AA36809-BFC5-46B4-908F-BC4405B6FA2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CA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76A7CE9-4ED3-4F98-A49D-722B7FFD679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CA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96AA814-735F-4A4B-B75B-82B1C41F088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CA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44CEBED-15CD-4EB9-B973-DFE46FAAB68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CA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97801ED-464C-449E-82FD-7D316FDD05B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CA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9A51FDC-3EA8-4AA0-A451-2D31F9492C8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CA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F6EBA00-EE75-4EDF-B3E9-13CA1D11AF6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CA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CA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CA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CA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CA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CA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CA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CA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CA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CA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CA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CA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CA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CA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CA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CA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CA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CA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CA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CA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CA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CA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CA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CA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CA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0" y="4663440"/>
            <a:ext cx="9143640" cy="475200"/>
          </a:xfrm>
          <a:prstGeom prst="rect">
            <a:avLst/>
          </a:prstGeom>
          <a:solidFill>
            <a:srgbClr val="1A7A8A"/>
          </a:solidFill>
          <a:ln w="12700">
            <a:solidFill>
              <a:srgbClr val="1A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CA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Shape 1"/>
          <p:cNvSpPr/>
          <p:nvPr/>
        </p:nvSpPr>
        <p:spPr>
          <a:xfrm>
            <a:off x="0" y="0"/>
            <a:ext cx="273960" cy="5143320"/>
          </a:xfrm>
          <a:prstGeom prst="rect">
            <a:avLst/>
          </a:prstGeom>
          <a:solidFill>
            <a:srgbClr val="2A9BAD"/>
          </a:solidFill>
          <a:ln w="12700">
            <a:solidFill>
              <a:srgbClr val="2A9BA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CA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2"/>
          <p:cNvSpPr/>
          <p:nvPr/>
        </p:nvSpPr>
        <p:spPr>
          <a:xfrm>
            <a:off x="548640" y="640080"/>
            <a:ext cx="822924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Database Design &amp;</a:t>
            </a:r>
            <a:endParaRPr lang="en-CA" sz="4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Implementation</a:t>
            </a:r>
            <a:endParaRPr lang="en-CA" sz="4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3"/>
          <p:cNvSpPr/>
          <p:nvPr/>
        </p:nvSpPr>
        <p:spPr>
          <a:xfrm>
            <a:off x="548640" y="2240280"/>
            <a:ext cx="8229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0" u="none" strike="noStrike">
                <a:solidFill>
                  <a:srgbClr val="2A9BAD"/>
                </a:solidFill>
                <a:effectLst/>
                <a:uFillTx/>
                <a:latin typeface="Calibri"/>
                <a:ea typeface="Calibri"/>
              </a:rPr>
              <a:t>for a Fitness Center</a:t>
            </a:r>
            <a:endParaRPr lang="en-CA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Shape 4"/>
          <p:cNvSpPr/>
          <p:nvPr/>
        </p:nvSpPr>
        <p:spPr>
          <a:xfrm>
            <a:off x="548640" y="2944080"/>
            <a:ext cx="5029200" cy="360"/>
          </a:xfrm>
          <a:prstGeom prst="line">
            <a:avLst/>
          </a:prstGeom>
          <a:ln w="12700">
            <a:solidFill>
              <a:srgbClr val="8A9BB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CA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5"/>
          <p:cNvSpPr/>
          <p:nvPr/>
        </p:nvSpPr>
        <p:spPr>
          <a:xfrm>
            <a:off x="548640" y="3063240"/>
            <a:ext cx="64004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8A9BB0"/>
                </a:solidFill>
                <a:effectLst/>
                <a:uFillTx/>
                <a:latin typeface="Calibri"/>
                <a:ea typeface="Calibri"/>
              </a:rPr>
              <a:t>Database Design &amp; Implementation — Group Project</a:t>
            </a:r>
            <a:endParaRPr lang="en-CA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6"/>
          <p:cNvSpPr/>
          <p:nvPr/>
        </p:nvSpPr>
        <p:spPr>
          <a:xfrm>
            <a:off x="548640" y="3383280"/>
            <a:ext cx="64004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8A9BB0"/>
                </a:solidFill>
                <a:effectLst/>
                <a:uFillTx/>
                <a:latin typeface="Calibri"/>
                <a:ea typeface="Calibri"/>
              </a:rPr>
              <a:t>Week 13 Presentation</a:t>
            </a:r>
            <a:endParaRPr lang="en-CA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7"/>
          <p:cNvSpPr/>
          <p:nvPr/>
        </p:nvSpPr>
        <p:spPr>
          <a:xfrm>
            <a:off x="320040" y="4663440"/>
            <a:ext cx="850356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Presented by: Marcus Podnar and Nickolas Gabrialovitch</a:t>
            </a:r>
            <a:endParaRPr lang="en-CA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0"/>
          <p:cNvSpPr/>
          <p:nvPr/>
        </p:nvSpPr>
        <p:spPr>
          <a:xfrm>
            <a:off x="0" y="0"/>
            <a:ext cx="9143640" cy="7768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CA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Shape 1"/>
          <p:cNvSpPr/>
          <p:nvPr/>
        </p:nvSpPr>
        <p:spPr>
          <a:xfrm>
            <a:off x="0" y="777240"/>
            <a:ext cx="9143640" cy="54360"/>
          </a:xfrm>
          <a:prstGeom prst="rect">
            <a:avLst/>
          </a:prstGeom>
          <a:solidFill>
            <a:srgbClr val="1A7A8A"/>
          </a:solidFill>
          <a:ln w="12700">
            <a:solidFill>
              <a:srgbClr val="1A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en-CA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2"/>
          <p:cNvSpPr/>
          <p:nvPr/>
        </p:nvSpPr>
        <p:spPr>
          <a:xfrm>
            <a:off x="320040" y="0"/>
            <a:ext cx="85035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Agenda</a:t>
            </a:r>
            <a:endParaRPr lang="en-CA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Shape 3"/>
          <p:cNvSpPr/>
          <p:nvPr/>
        </p:nvSpPr>
        <p:spPr>
          <a:xfrm>
            <a:off x="274320" y="960120"/>
            <a:ext cx="8595000" cy="493560"/>
          </a:xfrm>
          <a:prstGeom prst="rect">
            <a:avLst/>
          </a:prstGeom>
          <a:solidFill>
            <a:srgbClr val="E2E8EF"/>
          </a:solidFill>
          <a:ln w="12700">
            <a:solidFill>
              <a:srgbClr val="E2E8E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Shape 4"/>
          <p:cNvSpPr/>
          <p:nvPr/>
        </p:nvSpPr>
        <p:spPr>
          <a:xfrm>
            <a:off x="274320" y="960120"/>
            <a:ext cx="502560" cy="4935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CA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5"/>
          <p:cNvSpPr/>
          <p:nvPr/>
        </p:nvSpPr>
        <p:spPr>
          <a:xfrm>
            <a:off x="274320" y="960120"/>
            <a:ext cx="50256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01</a:t>
            </a:r>
            <a:endParaRPr lang="en-CA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6"/>
          <p:cNvSpPr/>
          <p:nvPr/>
        </p:nvSpPr>
        <p:spPr>
          <a:xfrm>
            <a:off x="914400" y="987480"/>
            <a:ext cx="32914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B2A4A"/>
                </a:solidFill>
                <a:effectLst/>
                <a:uFillTx/>
                <a:latin typeface="Calibri"/>
                <a:ea typeface="Calibri"/>
              </a:rPr>
              <a:t>Project Overview</a:t>
            </a:r>
            <a:endParaRPr lang="en-CA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7"/>
          <p:cNvSpPr/>
          <p:nvPr/>
        </p:nvSpPr>
        <p:spPr>
          <a:xfrm>
            <a:off x="914400" y="1234440"/>
            <a:ext cx="77720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8A9BB0"/>
                </a:solidFill>
                <a:effectLst/>
                <a:uFillTx/>
                <a:latin typeface="Calibri"/>
                <a:ea typeface="Calibri"/>
              </a:rPr>
              <a:t>Objective and scope of the fitness center database</a:t>
            </a:r>
            <a:endParaRPr lang="en-CA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Shape 8"/>
          <p:cNvSpPr/>
          <p:nvPr/>
        </p:nvSpPr>
        <p:spPr>
          <a:xfrm>
            <a:off x="274320" y="1508760"/>
            <a:ext cx="8595000" cy="493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Shape 9"/>
          <p:cNvSpPr/>
          <p:nvPr/>
        </p:nvSpPr>
        <p:spPr>
          <a:xfrm>
            <a:off x="274320" y="1508760"/>
            <a:ext cx="502560" cy="4935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CA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10"/>
          <p:cNvSpPr/>
          <p:nvPr/>
        </p:nvSpPr>
        <p:spPr>
          <a:xfrm>
            <a:off x="274320" y="1508760"/>
            <a:ext cx="50256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02</a:t>
            </a:r>
            <a:endParaRPr lang="en-CA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11"/>
          <p:cNvSpPr/>
          <p:nvPr/>
        </p:nvSpPr>
        <p:spPr>
          <a:xfrm>
            <a:off x="914400" y="1536120"/>
            <a:ext cx="32914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B2A4A"/>
                </a:solidFill>
                <a:effectLst/>
                <a:uFillTx/>
                <a:latin typeface="Calibri"/>
                <a:ea typeface="Calibri"/>
              </a:rPr>
              <a:t>Conceptual Model (EER Diagram)</a:t>
            </a:r>
            <a:endParaRPr lang="en-CA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12"/>
          <p:cNvSpPr/>
          <p:nvPr/>
        </p:nvSpPr>
        <p:spPr>
          <a:xfrm>
            <a:off x="914400" y="1783080"/>
            <a:ext cx="77720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8A9BB0"/>
                </a:solidFill>
                <a:effectLst/>
                <a:uFillTx/>
                <a:latin typeface="Calibri"/>
                <a:ea typeface="Calibri"/>
              </a:rPr>
              <a:t>Entities, attributes, and relationships</a:t>
            </a:r>
            <a:endParaRPr lang="en-CA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Shape 13"/>
          <p:cNvSpPr/>
          <p:nvPr/>
        </p:nvSpPr>
        <p:spPr>
          <a:xfrm>
            <a:off x="274320" y="2057400"/>
            <a:ext cx="8595000" cy="493560"/>
          </a:xfrm>
          <a:prstGeom prst="rect">
            <a:avLst/>
          </a:prstGeom>
          <a:solidFill>
            <a:srgbClr val="E2E8EF"/>
          </a:solidFill>
          <a:ln w="12700">
            <a:solidFill>
              <a:srgbClr val="E2E8E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Shape 14"/>
          <p:cNvSpPr/>
          <p:nvPr/>
        </p:nvSpPr>
        <p:spPr>
          <a:xfrm>
            <a:off x="274320" y="2057400"/>
            <a:ext cx="502560" cy="4935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CA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15"/>
          <p:cNvSpPr/>
          <p:nvPr/>
        </p:nvSpPr>
        <p:spPr>
          <a:xfrm>
            <a:off x="274320" y="2057400"/>
            <a:ext cx="50256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03</a:t>
            </a:r>
            <a:endParaRPr lang="en-CA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16"/>
          <p:cNvSpPr/>
          <p:nvPr/>
        </p:nvSpPr>
        <p:spPr>
          <a:xfrm>
            <a:off x="914400" y="2084760"/>
            <a:ext cx="32914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B2A4A"/>
                </a:solidFill>
                <a:effectLst/>
                <a:uFillTx/>
                <a:latin typeface="Calibri"/>
                <a:ea typeface="Calibri"/>
              </a:rPr>
              <a:t>Relational Model</a:t>
            </a:r>
            <a:endParaRPr lang="en-CA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17"/>
          <p:cNvSpPr/>
          <p:nvPr/>
        </p:nvSpPr>
        <p:spPr>
          <a:xfrm>
            <a:off x="914400" y="2331720"/>
            <a:ext cx="77720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8A9BB0"/>
                </a:solidFill>
                <a:effectLst/>
                <a:uFillTx/>
                <a:latin typeface="Calibri"/>
                <a:ea typeface="Calibri"/>
              </a:rPr>
              <a:t>Logical data model and normalization to 3NF</a:t>
            </a:r>
            <a:endParaRPr lang="en-CA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Shape 18"/>
          <p:cNvSpPr/>
          <p:nvPr/>
        </p:nvSpPr>
        <p:spPr>
          <a:xfrm>
            <a:off x="274320" y="2606040"/>
            <a:ext cx="8595000" cy="493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Shape 19"/>
          <p:cNvSpPr/>
          <p:nvPr/>
        </p:nvSpPr>
        <p:spPr>
          <a:xfrm>
            <a:off x="274320" y="2606040"/>
            <a:ext cx="502560" cy="4935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CA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20"/>
          <p:cNvSpPr/>
          <p:nvPr/>
        </p:nvSpPr>
        <p:spPr>
          <a:xfrm>
            <a:off x="274320" y="2606040"/>
            <a:ext cx="50256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04</a:t>
            </a:r>
            <a:endParaRPr lang="en-CA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21"/>
          <p:cNvSpPr/>
          <p:nvPr/>
        </p:nvSpPr>
        <p:spPr>
          <a:xfrm>
            <a:off x="914400" y="2633400"/>
            <a:ext cx="32914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B2A4A"/>
                </a:solidFill>
                <a:effectLst/>
                <a:uFillTx/>
                <a:latin typeface="Calibri"/>
                <a:ea typeface="Calibri"/>
              </a:rPr>
              <a:t>SQL: Create &amp; Insert</a:t>
            </a:r>
            <a:endParaRPr lang="en-CA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22"/>
          <p:cNvSpPr/>
          <p:nvPr/>
        </p:nvSpPr>
        <p:spPr>
          <a:xfrm>
            <a:off x="914400" y="2880360"/>
            <a:ext cx="77720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8A9BB0"/>
                </a:solidFill>
                <a:effectLst/>
                <a:uFillTx/>
                <a:latin typeface="Calibri"/>
                <a:ea typeface="Calibri"/>
              </a:rPr>
              <a:t>Table creation scripts and sample data</a:t>
            </a:r>
            <a:endParaRPr lang="en-CA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Shape 23"/>
          <p:cNvSpPr/>
          <p:nvPr/>
        </p:nvSpPr>
        <p:spPr>
          <a:xfrm>
            <a:off x="274320" y="3154680"/>
            <a:ext cx="8595000" cy="493560"/>
          </a:xfrm>
          <a:prstGeom prst="rect">
            <a:avLst/>
          </a:prstGeom>
          <a:solidFill>
            <a:srgbClr val="E2E8EF"/>
          </a:solidFill>
          <a:ln w="12700">
            <a:solidFill>
              <a:srgbClr val="E2E8E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Shape 24"/>
          <p:cNvSpPr/>
          <p:nvPr/>
        </p:nvSpPr>
        <p:spPr>
          <a:xfrm>
            <a:off x="274320" y="3154680"/>
            <a:ext cx="502560" cy="4935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CA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25"/>
          <p:cNvSpPr/>
          <p:nvPr/>
        </p:nvSpPr>
        <p:spPr>
          <a:xfrm>
            <a:off x="274320" y="3154680"/>
            <a:ext cx="50256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05</a:t>
            </a:r>
            <a:endParaRPr lang="en-CA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26"/>
          <p:cNvSpPr/>
          <p:nvPr/>
        </p:nvSpPr>
        <p:spPr>
          <a:xfrm>
            <a:off x="914400" y="3182040"/>
            <a:ext cx="32914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B2A4A"/>
                </a:solidFill>
                <a:effectLst/>
                <a:uFillTx/>
                <a:latin typeface="Calibri"/>
                <a:ea typeface="Calibri"/>
              </a:rPr>
              <a:t>MongoDB Collections</a:t>
            </a:r>
            <a:endParaRPr lang="en-CA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27"/>
          <p:cNvSpPr/>
          <p:nvPr/>
        </p:nvSpPr>
        <p:spPr>
          <a:xfrm>
            <a:off x="914400" y="3429000"/>
            <a:ext cx="77720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8A9BB0"/>
                </a:solidFill>
                <a:effectLst/>
                <a:uFillTx/>
                <a:latin typeface="Calibri"/>
                <a:ea typeface="Calibri"/>
              </a:rPr>
              <a:t>NoSQL implementation for Locations and Coaches</a:t>
            </a:r>
            <a:endParaRPr lang="en-CA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Shape 28"/>
          <p:cNvSpPr/>
          <p:nvPr/>
        </p:nvSpPr>
        <p:spPr>
          <a:xfrm>
            <a:off x="274320" y="3703320"/>
            <a:ext cx="8595000" cy="493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Shape 29"/>
          <p:cNvSpPr/>
          <p:nvPr/>
        </p:nvSpPr>
        <p:spPr>
          <a:xfrm>
            <a:off x="274320" y="3703320"/>
            <a:ext cx="502560" cy="4935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CA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30"/>
          <p:cNvSpPr/>
          <p:nvPr/>
        </p:nvSpPr>
        <p:spPr>
          <a:xfrm>
            <a:off x="274320" y="3703320"/>
            <a:ext cx="50256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06</a:t>
            </a:r>
            <a:endParaRPr lang="en-CA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31"/>
          <p:cNvSpPr/>
          <p:nvPr/>
        </p:nvSpPr>
        <p:spPr>
          <a:xfrm>
            <a:off x="914400" y="3730680"/>
            <a:ext cx="32914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B2A4A"/>
                </a:solidFill>
                <a:effectLst/>
                <a:uFillTx/>
                <a:latin typeface="Calibri"/>
                <a:ea typeface="Calibri"/>
              </a:rPr>
              <a:t>SQL SELECT Statements</a:t>
            </a:r>
            <a:endParaRPr lang="en-CA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32"/>
          <p:cNvSpPr/>
          <p:nvPr/>
        </p:nvSpPr>
        <p:spPr>
          <a:xfrm>
            <a:off x="914400" y="3977640"/>
            <a:ext cx="77720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8A9BB0"/>
                </a:solidFill>
                <a:effectLst/>
                <a:uFillTx/>
                <a:latin typeface="Calibri"/>
                <a:ea typeface="Calibri"/>
              </a:rPr>
              <a:t>Queries mapped to wireframe screens</a:t>
            </a:r>
            <a:endParaRPr lang="en-CA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Shape 33"/>
          <p:cNvSpPr/>
          <p:nvPr/>
        </p:nvSpPr>
        <p:spPr>
          <a:xfrm>
            <a:off x="274320" y="4251960"/>
            <a:ext cx="8595000" cy="493560"/>
          </a:xfrm>
          <a:prstGeom prst="rect">
            <a:avLst/>
          </a:prstGeom>
          <a:solidFill>
            <a:srgbClr val="E2E8EF"/>
          </a:solidFill>
          <a:ln w="12700">
            <a:solidFill>
              <a:srgbClr val="E2E8E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Shape 34"/>
          <p:cNvSpPr/>
          <p:nvPr/>
        </p:nvSpPr>
        <p:spPr>
          <a:xfrm>
            <a:off x="274320" y="4251960"/>
            <a:ext cx="502560" cy="4935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CA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35"/>
          <p:cNvSpPr/>
          <p:nvPr/>
        </p:nvSpPr>
        <p:spPr>
          <a:xfrm>
            <a:off x="274320" y="4251960"/>
            <a:ext cx="50256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07</a:t>
            </a:r>
            <a:endParaRPr lang="en-CA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36"/>
          <p:cNvSpPr/>
          <p:nvPr/>
        </p:nvSpPr>
        <p:spPr>
          <a:xfrm>
            <a:off x="914400" y="4279320"/>
            <a:ext cx="32914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B2A4A"/>
                </a:solidFill>
                <a:effectLst/>
                <a:uFillTx/>
                <a:latin typeface="Calibri"/>
                <a:ea typeface="Calibri"/>
              </a:rPr>
              <a:t>Summary</a:t>
            </a:r>
            <a:endParaRPr lang="en-CA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37"/>
          <p:cNvSpPr/>
          <p:nvPr/>
        </p:nvSpPr>
        <p:spPr>
          <a:xfrm>
            <a:off x="914400" y="4526280"/>
            <a:ext cx="77720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8A9BB0"/>
                </a:solidFill>
                <a:effectLst/>
                <a:uFillTx/>
                <a:latin typeface="Calibri"/>
                <a:ea typeface="Calibri"/>
              </a:rPr>
              <a:t>Key design decisions and takeaways</a:t>
            </a:r>
            <a:endParaRPr lang="en-CA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Shape 0"/>
          <p:cNvSpPr/>
          <p:nvPr/>
        </p:nvSpPr>
        <p:spPr>
          <a:xfrm>
            <a:off x="0" y="0"/>
            <a:ext cx="9143640" cy="7768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CA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" name="Shape 1"/>
          <p:cNvSpPr/>
          <p:nvPr/>
        </p:nvSpPr>
        <p:spPr>
          <a:xfrm>
            <a:off x="0" y="777240"/>
            <a:ext cx="9143640" cy="54360"/>
          </a:xfrm>
          <a:prstGeom prst="rect">
            <a:avLst/>
          </a:prstGeom>
          <a:solidFill>
            <a:srgbClr val="1A7A8A"/>
          </a:solidFill>
          <a:ln w="12700">
            <a:solidFill>
              <a:srgbClr val="1A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en-CA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2"/>
          <p:cNvSpPr/>
          <p:nvPr/>
        </p:nvSpPr>
        <p:spPr>
          <a:xfrm>
            <a:off x="320040" y="0"/>
            <a:ext cx="85035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Project Overview</a:t>
            </a:r>
            <a:endParaRPr lang="en-CA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3"/>
          <p:cNvSpPr/>
          <p:nvPr/>
        </p:nvSpPr>
        <p:spPr>
          <a:xfrm>
            <a:off x="320040" y="804600"/>
            <a:ext cx="66747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A7A8A"/>
                </a:solidFill>
                <a:effectLst/>
                <a:uFillTx/>
                <a:latin typeface="Calibri"/>
                <a:ea typeface="Calibri"/>
              </a:rPr>
              <a:t>Database Design &amp; Implementation for a Fitness Center</a:t>
            </a:r>
            <a:endParaRPr lang="en-CA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Shape 4"/>
          <p:cNvSpPr/>
          <p:nvPr/>
        </p:nvSpPr>
        <p:spPr>
          <a:xfrm>
            <a:off x="7132320" y="164520"/>
            <a:ext cx="1828440" cy="292320"/>
          </a:xfrm>
          <a:prstGeom prst="rect">
            <a:avLst/>
          </a:prstGeom>
          <a:solidFill>
            <a:srgbClr val="1A7A8A"/>
          </a:solidFill>
          <a:ln w="12700">
            <a:solidFill>
              <a:srgbClr val="1A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CA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5"/>
          <p:cNvSpPr/>
          <p:nvPr/>
        </p:nvSpPr>
        <p:spPr>
          <a:xfrm>
            <a:off x="7132320" y="164520"/>
            <a:ext cx="18284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OVERVIEW</a:t>
            </a:r>
            <a:endParaRPr lang="en-CA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Shape 6"/>
          <p:cNvSpPr/>
          <p:nvPr/>
        </p:nvSpPr>
        <p:spPr>
          <a:xfrm>
            <a:off x="274320" y="1143000"/>
            <a:ext cx="4114440" cy="356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F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Shape 7"/>
          <p:cNvSpPr/>
          <p:nvPr/>
        </p:nvSpPr>
        <p:spPr>
          <a:xfrm>
            <a:off x="0" y="1143000"/>
            <a:ext cx="164160" cy="3565800"/>
          </a:xfrm>
          <a:prstGeom prst="rect">
            <a:avLst/>
          </a:prstGeom>
          <a:solidFill>
            <a:srgbClr val="1A7A8A"/>
          </a:solidFill>
          <a:ln w="12700">
            <a:solidFill>
              <a:srgbClr val="1A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CA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8"/>
          <p:cNvSpPr/>
          <p:nvPr/>
        </p:nvSpPr>
        <p:spPr>
          <a:xfrm>
            <a:off x="502920" y="1261800"/>
            <a:ext cx="3748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B2A4A"/>
                </a:solidFill>
                <a:effectLst/>
                <a:uFillTx/>
                <a:latin typeface="Calibri"/>
                <a:ea typeface="Calibri"/>
              </a:rPr>
              <a:t>Objective</a:t>
            </a:r>
            <a:endParaRPr lang="en-CA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9"/>
          <p:cNvSpPr/>
          <p:nvPr/>
        </p:nvSpPr>
        <p:spPr>
          <a:xfrm>
            <a:off x="502920" y="1572840"/>
            <a:ext cx="37486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0D1B2E"/>
                </a:solidFill>
                <a:effectLst/>
                <a:uFillTx/>
                <a:latin typeface="Calibri"/>
                <a:ea typeface="Calibri"/>
              </a:rPr>
              <a:t>Reinforce database design concepts by building a full database system for a fitness center — from business rules through to implementation.</a:t>
            </a:r>
            <a:endParaRPr lang="en-CA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10"/>
          <p:cNvSpPr/>
          <p:nvPr/>
        </p:nvSpPr>
        <p:spPr>
          <a:xfrm>
            <a:off x="502920" y="2331720"/>
            <a:ext cx="3748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B2A4A"/>
                </a:solidFill>
                <a:effectLst/>
                <a:uFillTx/>
                <a:latin typeface="Calibri"/>
                <a:ea typeface="Calibri"/>
              </a:rPr>
              <a:t>Deliverables Completed</a:t>
            </a:r>
            <a:endParaRPr lang="en-CA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11"/>
          <p:cNvSpPr/>
          <p:nvPr/>
        </p:nvSpPr>
        <p:spPr>
          <a:xfrm>
            <a:off x="502920" y="2633400"/>
            <a:ext cx="3748680" cy="191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E"/>
              </a:buClr>
              <a:buFont typeface="Symbol" charset="2"/>
              <a:buChar char=""/>
            </a:pPr>
            <a:r>
              <a:rPr lang="en-US" sz="1050" b="0" u="none" strike="noStrike">
                <a:solidFill>
                  <a:srgbClr val="0D1B2E"/>
                </a:solidFill>
                <a:effectLst/>
                <a:uFillTx/>
                <a:latin typeface="Calibri"/>
                <a:ea typeface="Calibri"/>
              </a:rPr>
              <a:t>Conceptual EER Diagram</a:t>
            </a:r>
            <a:endParaRPr lang="en-CA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E"/>
              </a:buClr>
              <a:buFont typeface="Symbol" charset="2"/>
              <a:buChar char=""/>
            </a:pPr>
            <a:r>
              <a:rPr lang="en-US" sz="1050" b="0" u="none" strike="noStrike">
                <a:solidFill>
                  <a:srgbClr val="0D1B2E"/>
                </a:solidFill>
                <a:effectLst/>
                <a:uFillTx/>
                <a:latin typeface="Calibri"/>
                <a:ea typeface="Calibri"/>
              </a:rPr>
              <a:t>Relational Data Structure Diagram (3NF)</a:t>
            </a:r>
            <a:endParaRPr lang="en-CA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E"/>
              </a:buClr>
              <a:buFont typeface="Symbol" charset="2"/>
              <a:buChar char=""/>
            </a:pPr>
            <a:r>
              <a:rPr lang="en-US" sz="1050" b="0" u="none" strike="noStrike">
                <a:solidFill>
                  <a:srgbClr val="0D1B2E"/>
                </a:solidFill>
                <a:effectLst/>
                <a:uFillTx/>
                <a:latin typeface="Calibri"/>
                <a:ea typeface="Calibri"/>
              </a:rPr>
              <a:t>SQL: CREATE TABLE scripts</a:t>
            </a:r>
            <a:endParaRPr lang="en-CA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E"/>
              </a:buClr>
              <a:buFont typeface="Symbol" charset="2"/>
              <a:buChar char=""/>
            </a:pPr>
            <a:r>
              <a:rPr lang="en-US" sz="1050" b="0" u="none" strike="noStrike">
                <a:solidFill>
                  <a:srgbClr val="0D1B2E"/>
                </a:solidFill>
                <a:effectLst/>
                <a:uFillTx/>
                <a:latin typeface="Calibri"/>
                <a:ea typeface="Calibri"/>
              </a:rPr>
              <a:t>SQL: INSERT sample data</a:t>
            </a:r>
            <a:endParaRPr lang="en-CA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0D1B2E"/>
              </a:buClr>
              <a:buFont typeface="Symbol" charset="2"/>
              <a:buChar char=""/>
            </a:pPr>
            <a:r>
              <a:rPr lang="en-US" sz="1050" b="0" u="none" strike="noStrike">
                <a:solidFill>
                  <a:srgbClr val="0D1B2E"/>
                </a:solidFill>
                <a:effectLst/>
                <a:uFillTx/>
                <a:latin typeface="Calibri"/>
                <a:ea typeface="Calibri"/>
              </a:rPr>
              <a:t>MongoDB Collections (Locations &amp; Coaches)</a:t>
            </a:r>
            <a:endParaRPr lang="en-CA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D1B2E"/>
              </a:buClr>
              <a:buFont typeface="Symbol" charset="2"/>
              <a:buChar char=""/>
            </a:pPr>
            <a:r>
              <a:rPr lang="en-US" sz="1050" b="0" u="none" strike="noStrike">
                <a:solidFill>
                  <a:srgbClr val="0D1B2E"/>
                </a:solidFill>
                <a:effectLst/>
                <a:uFillTx/>
                <a:latin typeface="Calibri"/>
                <a:ea typeface="Calibri"/>
              </a:rPr>
              <a:t>SQL SELECT statements (4 wireframes)</a:t>
            </a:r>
            <a:endParaRPr lang="en-CA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Shape 12"/>
          <p:cNvSpPr/>
          <p:nvPr/>
        </p:nvSpPr>
        <p:spPr>
          <a:xfrm>
            <a:off x="4709160" y="1143000"/>
            <a:ext cx="1965600" cy="1599840"/>
          </a:xfrm>
          <a:prstGeom prst="rect">
            <a:avLst/>
          </a:prstGeom>
          <a:solidFill>
            <a:srgbClr val="1B2A4A"/>
          </a:solidFill>
          <a:ln w="12700">
            <a:solidFill>
              <a:srgbClr val="E2E8EF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CA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13"/>
          <p:cNvSpPr/>
          <p:nvPr/>
        </p:nvSpPr>
        <p:spPr>
          <a:xfrm>
            <a:off x="4709160" y="1325880"/>
            <a:ext cx="19656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F0A500"/>
                </a:solidFill>
                <a:effectLst/>
                <a:uFillTx/>
                <a:latin typeface="Calibri"/>
                <a:ea typeface="Calibri"/>
              </a:rPr>
              <a:t>14</a:t>
            </a:r>
            <a:endParaRPr lang="en-CA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14"/>
          <p:cNvSpPr/>
          <p:nvPr/>
        </p:nvSpPr>
        <p:spPr>
          <a:xfrm>
            <a:off x="4709160" y="1984320"/>
            <a:ext cx="1965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Tables</a:t>
            </a:r>
            <a:endParaRPr lang="en-CA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15"/>
          <p:cNvSpPr/>
          <p:nvPr/>
        </p:nvSpPr>
        <p:spPr>
          <a:xfrm>
            <a:off x="4709160" y="2258640"/>
            <a:ext cx="19656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E2E8EF"/>
                </a:solidFill>
                <a:effectLst/>
                <a:uFillTx/>
                <a:latin typeface="Calibri"/>
                <a:ea typeface="Calibri"/>
              </a:rPr>
              <a:t>in the relational model</a:t>
            </a:r>
            <a:endParaRPr lang="en-CA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Shape 16"/>
          <p:cNvSpPr/>
          <p:nvPr/>
        </p:nvSpPr>
        <p:spPr>
          <a:xfrm>
            <a:off x="6858000" y="1143000"/>
            <a:ext cx="1965600" cy="1599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F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17"/>
          <p:cNvSpPr/>
          <p:nvPr/>
        </p:nvSpPr>
        <p:spPr>
          <a:xfrm>
            <a:off x="6858000" y="1325880"/>
            <a:ext cx="19656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1A7A8A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en-CA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18"/>
          <p:cNvSpPr/>
          <p:nvPr/>
        </p:nvSpPr>
        <p:spPr>
          <a:xfrm>
            <a:off x="6858000" y="1984320"/>
            <a:ext cx="1965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B2A4A"/>
                </a:solidFill>
                <a:effectLst/>
                <a:uFillTx/>
                <a:latin typeface="Calibri"/>
                <a:ea typeface="Calibri"/>
              </a:rPr>
              <a:t>Wireframes</a:t>
            </a:r>
            <a:endParaRPr lang="en-CA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19"/>
          <p:cNvSpPr/>
          <p:nvPr/>
        </p:nvSpPr>
        <p:spPr>
          <a:xfrm>
            <a:off x="6858000" y="2258640"/>
            <a:ext cx="19656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8A9BB0"/>
                </a:solidFill>
                <a:effectLst/>
                <a:uFillTx/>
                <a:latin typeface="Calibri"/>
                <a:ea typeface="Calibri"/>
              </a:rPr>
              <a:t>mapped to SELECT queries</a:t>
            </a:r>
            <a:endParaRPr lang="en-CA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Shape 20"/>
          <p:cNvSpPr/>
          <p:nvPr/>
        </p:nvSpPr>
        <p:spPr>
          <a:xfrm>
            <a:off x="4709160" y="2971800"/>
            <a:ext cx="1965600" cy="1599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F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21"/>
          <p:cNvSpPr/>
          <p:nvPr/>
        </p:nvSpPr>
        <p:spPr>
          <a:xfrm>
            <a:off x="4709160" y="3154680"/>
            <a:ext cx="19656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1A7A8A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CA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22"/>
          <p:cNvSpPr/>
          <p:nvPr/>
        </p:nvSpPr>
        <p:spPr>
          <a:xfrm>
            <a:off x="4709160" y="3813120"/>
            <a:ext cx="1965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B2A4A"/>
                </a:solidFill>
                <a:effectLst/>
                <a:uFillTx/>
                <a:latin typeface="Calibri"/>
                <a:ea typeface="Calibri"/>
              </a:rPr>
              <a:t>NoSQL</a:t>
            </a:r>
            <a:endParaRPr lang="en-CA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23"/>
          <p:cNvSpPr/>
          <p:nvPr/>
        </p:nvSpPr>
        <p:spPr>
          <a:xfrm>
            <a:off x="4709160" y="4087440"/>
            <a:ext cx="19656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8A9BB0"/>
                </a:solidFill>
                <a:effectLst/>
                <a:uFillTx/>
                <a:latin typeface="Calibri"/>
                <a:ea typeface="Calibri"/>
              </a:rPr>
              <a:t>MongoDB collections</a:t>
            </a:r>
            <a:endParaRPr lang="en-CA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Shape 24"/>
          <p:cNvSpPr/>
          <p:nvPr/>
        </p:nvSpPr>
        <p:spPr>
          <a:xfrm>
            <a:off x="6858000" y="2971800"/>
            <a:ext cx="1965600" cy="1599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F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25"/>
          <p:cNvSpPr/>
          <p:nvPr/>
        </p:nvSpPr>
        <p:spPr>
          <a:xfrm>
            <a:off x="6858000" y="3154680"/>
            <a:ext cx="19656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1A7A8A"/>
                </a:solidFill>
                <a:effectLst/>
                <a:uFillTx/>
                <a:latin typeface="Calibri"/>
                <a:ea typeface="Calibri"/>
              </a:rPr>
              <a:t>3NF</a:t>
            </a:r>
            <a:endParaRPr lang="en-CA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26"/>
          <p:cNvSpPr/>
          <p:nvPr/>
        </p:nvSpPr>
        <p:spPr>
          <a:xfrm>
            <a:off x="6858000" y="3813120"/>
            <a:ext cx="1965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B2A4A"/>
                </a:solidFill>
                <a:effectLst/>
                <a:uFillTx/>
                <a:latin typeface="Calibri"/>
                <a:ea typeface="Calibri"/>
              </a:rPr>
              <a:t>Normal Form</a:t>
            </a:r>
            <a:endParaRPr lang="en-CA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27"/>
          <p:cNvSpPr/>
          <p:nvPr/>
        </p:nvSpPr>
        <p:spPr>
          <a:xfrm>
            <a:off x="6858000" y="4087440"/>
            <a:ext cx="19656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8A9BB0"/>
                </a:solidFill>
                <a:effectLst/>
                <a:uFillTx/>
                <a:latin typeface="Calibri"/>
                <a:ea typeface="Calibri"/>
              </a:rPr>
              <a:t>all tables verified</a:t>
            </a:r>
            <a:endParaRPr lang="en-CA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Shape 0"/>
          <p:cNvSpPr/>
          <p:nvPr/>
        </p:nvSpPr>
        <p:spPr>
          <a:xfrm>
            <a:off x="0" y="0"/>
            <a:ext cx="9143640" cy="7768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CA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Shape 1"/>
          <p:cNvSpPr/>
          <p:nvPr/>
        </p:nvSpPr>
        <p:spPr>
          <a:xfrm>
            <a:off x="0" y="777240"/>
            <a:ext cx="9143640" cy="54360"/>
          </a:xfrm>
          <a:prstGeom prst="rect">
            <a:avLst/>
          </a:prstGeom>
          <a:solidFill>
            <a:srgbClr val="1A7A8A"/>
          </a:solidFill>
          <a:ln w="12700">
            <a:solidFill>
              <a:srgbClr val="1A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en-CA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2"/>
          <p:cNvSpPr/>
          <p:nvPr/>
        </p:nvSpPr>
        <p:spPr>
          <a:xfrm>
            <a:off x="320040" y="0"/>
            <a:ext cx="85035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Conceptual EER Diagram</a:t>
            </a:r>
            <a:endParaRPr lang="en-CA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3"/>
          <p:cNvSpPr/>
          <p:nvPr/>
        </p:nvSpPr>
        <p:spPr>
          <a:xfrm>
            <a:off x="320040" y="804600"/>
            <a:ext cx="66747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A7A8A"/>
                </a:solidFill>
                <a:effectLst/>
                <a:uFillTx/>
                <a:latin typeface="Calibri"/>
                <a:ea typeface="Calibri"/>
              </a:rPr>
              <a:t>Deliverable 1 — designed using Draw.io</a:t>
            </a:r>
            <a:endParaRPr lang="en-CA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Shape 4"/>
          <p:cNvSpPr/>
          <p:nvPr/>
        </p:nvSpPr>
        <p:spPr>
          <a:xfrm>
            <a:off x="7132320" y="164520"/>
            <a:ext cx="1828440" cy="292320"/>
          </a:xfrm>
          <a:prstGeom prst="rect">
            <a:avLst/>
          </a:prstGeom>
          <a:solidFill>
            <a:srgbClr val="1A7A8A"/>
          </a:solidFill>
          <a:ln w="12700">
            <a:solidFill>
              <a:srgbClr val="1A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CA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5"/>
          <p:cNvSpPr/>
          <p:nvPr/>
        </p:nvSpPr>
        <p:spPr>
          <a:xfrm>
            <a:off x="7132320" y="164520"/>
            <a:ext cx="18284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CONCEPTUAL MODEL</a:t>
            </a:r>
            <a:endParaRPr lang="en-CA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0" name="Image 0" descr="/home/claude/ER_Model.png"/>
          <p:cNvPicPr/>
          <p:nvPr/>
        </p:nvPicPr>
        <p:blipFill>
          <a:blip r:embed="rId1"/>
          <a:stretch/>
        </p:blipFill>
        <p:spPr>
          <a:xfrm>
            <a:off x="274320" y="960120"/>
            <a:ext cx="8595000" cy="3885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1" name="Shape 6"/>
          <p:cNvSpPr/>
          <p:nvPr/>
        </p:nvSpPr>
        <p:spPr>
          <a:xfrm>
            <a:off x="0" y="4846320"/>
            <a:ext cx="9143640" cy="2923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CA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7"/>
          <p:cNvSpPr/>
          <p:nvPr/>
        </p:nvSpPr>
        <p:spPr>
          <a:xfrm>
            <a:off x="274320" y="4846320"/>
            <a:ext cx="85950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E2E8EF"/>
                </a:solidFill>
                <a:effectLst/>
                <a:uFillTx/>
                <a:latin typeface="Calibri"/>
                <a:ea typeface="Calibri"/>
              </a:rPr>
              <a:t>Strong entities: Member, Coach, Location, Class, Amenity, Certificate   |   Weak entities: Review, Reference   |   Association tables resolve many-to-many relationships</a:t>
            </a:r>
            <a:endParaRPr lang="en-CA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Shape 0"/>
          <p:cNvSpPr/>
          <p:nvPr/>
        </p:nvSpPr>
        <p:spPr>
          <a:xfrm>
            <a:off x="0" y="0"/>
            <a:ext cx="9143640" cy="7768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CA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Shape 1"/>
          <p:cNvSpPr/>
          <p:nvPr/>
        </p:nvSpPr>
        <p:spPr>
          <a:xfrm>
            <a:off x="0" y="777240"/>
            <a:ext cx="9143640" cy="54360"/>
          </a:xfrm>
          <a:prstGeom prst="rect">
            <a:avLst/>
          </a:prstGeom>
          <a:solidFill>
            <a:srgbClr val="1A7A8A"/>
          </a:solidFill>
          <a:ln w="12700">
            <a:solidFill>
              <a:srgbClr val="1A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en-CA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2"/>
          <p:cNvSpPr/>
          <p:nvPr/>
        </p:nvSpPr>
        <p:spPr>
          <a:xfrm>
            <a:off x="320040" y="0"/>
            <a:ext cx="85035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Relational Model (3NF)</a:t>
            </a:r>
            <a:endParaRPr lang="en-CA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3"/>
          <p:cNvSpPr/>
          <p:nvPr/>
        </p:nvSpPr>
        <p:spPr>
          <a:xfrm>
            <a:off x="320040" y="804600"/>
            <a:ext cx="66747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A7A8A"/>
                </a:solidFill>
                <a:effectLst/>
                <a:uFillTx/>
                <a:latin typeface="Calibri"/>
                <a:ea typeface="Calibri"/>
              </a:rPr>
              <a:t>Deliverable 2 — ER to Relational conversion</a:t>
            </a:r>
            <a:endParaRPr lang="en-CA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Shape 4"/>
          <p:cNvSpPr/>
          <p:nvPr/>
        </p:nvSpPr>
        <p:spPr>
          <a:xfrm>
            <a:off x="7132320" y="164520"/>
            <a:ext cx="1828440" cy="292320"/>
          </a:xfrm>
          <a:prstGeom prst="rect">
            <a:avLst/>
          </a:prstGeom>
          <a:solidFill>
            <a:srgbClr val="1A7A8A"/>
          </a:solidFill>
          <a:ln w="12700">
            <a:solidFill>
              <a:srgbClr val="1A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CA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5"/>
          <p:cNvSpPr/>
          <p:nvPr/>
        </p:nvSpPr>
        <p:spPr>
          <a:xfrm>
            <a:off x="7132320" y="164520"/>
            <a:ext cx="18284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RELATIONAL MODEL</a:t>
            </a:r>
            <a:endParaRPr lang="en-CA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9" name="Image 0" descr="/home/claude/RM_Model.png"/>
          <p:cNvPicPr/>
          <p:nvPr/>
        </p:nvPicPr>
        <p:blipFill>
          <a:blip r:embed="rId1"/>
          <a:stretch/>
        </p:blipFill>
        <p:spPr>
          <a:xfrm>
            <a:off x="274320" y="914400"/>
            <a:ext cx="4571640" cy="4068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0" name="Shape 6"/>
          <p:cNvSpPr/>
          <p:nvPr/>
        </p:nvSpPr>
        <p:spPr>
          <a:xfrm>
            <a:off x="5074920" y="914400"/>
            <a:ext cx="3794400" cy="406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F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Shape 7"/>
          <p:cNvSpPr/>
          <p:nvPr/>
        </p:nvSpPr>
        <p:spPr>
          <a:xfrm>
            <a:off x="5074920" y="914400"/>
            <a:ext cx="164160" cy="4068720"/>
          </a:xfrm>
          <a:prstGeom prst="rect">
            <a:avLst/>
          </a:prstGeom>
          <a:solidFill>
            <a:srgbClr val="1A7A8A"/>
          </a:solidFill>
          <a:ln w="12700">
            <a:solidFill>
              <a:srgbClr val="1A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CA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8"/>
          <p:cNvSpPr/>
          <p:nvPr/>
        </p:nvSpPr>
        <p:spPr>
          <a:xfrm>
            <a:off x="5349240" y="1024200"/>
            <a:ext cx="34012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B2A4A"/>
                </a:solidFill>
                <a:effectLst/>
                <a:uFillTx/>
                <a:latin typeface="Calibri"/>
                <a:ea typeface="Calibri"/>
              </a:rPr>
              <a:t>Third Normal Form (3NF)</a:t>
            </a:r>
            <a:endParaRPr lang="en-CA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9"/>
          <p:cNvSpPr/>
          <p:nvPr/>
        </p:nvSpPr>
        <p:spPr>
          <a:xfrm>
            <a:off x="5349240" y="1389960"/>
            <a:ext cx="340128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0D1B2E"/>
              </a:buClr>
              <a:buFont typeface="Symbol" charset="2"/>
              <a:buChar char=""/>
            </a:pPr>
            <a:r>
              <a:rPr lang="en-US" sz="1050" b="0" u="none" strike="noStrike">
                <a:solidFill>
                  <a:srgbClr val="0D1B2E"/>
                </a:solidFill>
                <a:effectLst/>
                <a:uFillTx/>
                <a:latin typeface="Calibri"/>
                <a:ea typeface="Calibri"/>
              </a:rPr>
              <a:t>1NF: All attributes are atomic, no repeating groups.</a:t>
            </a:r>
            <a:endParaRPr lang="en-CA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0D1B2E"/>
              </a:buClr>
              <a:buFont typeface="Symbol" charset="2"/>
              <a:buChar char=""/>
            </a:pPr>
            <a:r>
              <a:rPr lang="en-US" sz="1050" b="0" u="none" strike="noStrike">
                <a:solidFill>
                  <a:srgbClr val="0D1B2E"/>
                </a:solidFill>
                <a:effectLst/>
                <a:uFillTx/>
                <a:latin typeface="Calibri"/>
                <a:ea typeface="Calibri"/>
              </a:rPr>
              <a:t>2NF: Every non-key attribute depends on the full primary key.</a:t>
            </a:r>
            <a:endParaRPr lang="en-CA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0D1B2E"/>
              </a:buClr>
              <a:buFont typeface="Symbol" charset="2"/>
              <a:buChar char=""/>
            </a:pPr>
            <a:r>
              <a:rPr lang="en-US" sz="1050" b="0" u="none" strike="noStrike">
                <a:solidFill>
                  <a:srgbClr val="0D1B2E"/>
                </a:solidFill>
                <a:effectLst/>
                <a:uFillTx/>
                <a:latin typeface="Calibri"/>
                <a:ea typeface="Calibri"/>
              </a:rPr>
              <a:t>3NF: No transitive dependencies — attributes depend only on the PK.</a:t>
            </a:r>
            <a:endParaRPr lang="en-CA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0D1B2E"/>
              </a:buClr>
              <a:buFont typeface="Symbol" charset="2"/>
              <a:buChar char=""/>
            </a:pPr>
            <a:r>
              <a:rPr lang="en-US" sz="1050" b="0" u="none" strike="noStrike">
                <a:solidFill>
                  <a:srgbClr val="0D1B2E"/>
                </a:solidFill>
                <a:effectLst/>
                <a:uFillTx/>
                <a:latin typeface="Calibri"/>
                <a:ea typeface="Calibri"/>
              </a:rPr>
              <a:t>Association tables (Member_Coach, Location_Amenity, etc.) use composite PKs to resolve many-to-many relationships.</a:t>
            </a:r>
            <a:endParaRPr lang="en-CA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D1B2E"/>
              </a:buClr>
              <a:buFont typeface="Symbol" charset="2"/>
              <a:buChar char=""/>
            </a:pPr>
            <a:r>
              <a:rPr lang="en-US" sz="1050" b="0" u="none" strike="noStrike">
                <a:solidFill>
                  <a:srgbClr val="0D1B2E"/>
                </a:solidFill>
                <a:effectLst/>
                <a:uFillTx/>
                <a:latin typeface="Calibri"/>
                <a:ea typeface="Calibri"/>
              </a:rPr>
              <a:t>avgRating and overallRating are derived attributes, kept for query performance.</a:t>
            </a:r>
            <a:endParaRPr lang="en-CA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Shape 10"/>
          <p:cNvSpPr/>
          <p:nvPr/>
        </p:nvSpPr>
        <p:spPr>
          <a:xfrm>
            <a:off x="5257800" y="3730680"/>
            <a:ext cx="3492720" cy="11152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CA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11"/>
          <p:cNvSpPr/>
          <p:nvPr/>
        </p:nvSpPr>
        <p:spPr>
          <a:xfrm>
            <a:off x="5257800" y="3776400"/>
            <a:ext cx="3492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0A500"/>
                </a:solidFill>
                <a:effectLst/>
                <a:uFillTx/>
                <a:latin typeface="Calibri"/>
                <a:ea typeface="Calibri"/>
              </a:rPr>
              <a:t>14 Tables Total</a:t>
            </a:r>
            <a:endParaRPr lang="en-CA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12"/>
          <p:cNvSpPr/>
          <p:nvPr/>
        </p:nvSpPr>
        <p:spPr>
          <a:xfrm>
            <a:off x="5349240" y="4114800"/>
            <a:ext cx="33098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E2E8EF"/>
                </a:solidFill>
                <a:effectLst/>
                <a:uFillTx/>
                <a:latin typeface="Calibri"/>
                <a:ea typeface="Calibri"/>
              </a:rPr>
              <a:t>Member, Coach, Location, Amenity, Certificate, Class, Review, Reference_, Member_Coach, Class_Enrollment, Coach_Certificate, Location_Coach, Location_Amenity, Member_Visit</a:t>
            </a:r>
            <a:endParaRPr lang="en-CA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Shape 0"/>
          <p:cNvSpPr/>
          <p:nvPr/>
        </p:nvSpPr>
        <p:spPr>
          <a:xfrm>
            <a:off x="0" y="0"/>
            <a:ext cx="9143640" cy="7768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CA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Shape 1"/>
          <p:cNvSpPr/>
          <p:nvPr/>
        </p:nvSpPr>
        <p:spPr>
          <a:xfrm>
            <a:off x="0" y="777240"/>
            <a:ext cx="9143640" cy="54360"/>
          </a:xfrm>
          <a:prstGeom prst="rect">
            <a:avLst/>
          </a:prstGeom>
          <a:solidFill>
            <a:srgbClr val="1A7A8A"/>
          </a:solidFill>
          <a:ln w="12700">
            <a:solidFill>
              <a:srgbClr val="1A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en-CA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2"/>
          <p:cNvSpPr/>
          <p:nvPr/>
        </p:nvSpPr>
        <p:spPr>
          <a:xfrm>
            <a:off x="320040" y="0"/>
            <a:ext cx="85035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SQL: CREATE TABLE Scripts</a:t>
            </a:r>
            <a:endParaRPr lang="en-CA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3"/>
          <p:cNvSpPr/>
          <p:nvPr/>
        </p:nvSpPr>
        <p:spPr>
          <a:xfrm>
            <a:off x="320040" y="804600"/>
            <a:ext cx="66747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A7A8A"/>
                </a:solidFill>
                <a:effectLst/>
                <a:uFillTx/>
                <a:latin typeface="Calibri"/>
                <a:ea typeface="Calibri"/>
              </a:rPr>
              <a:t>Deliverable 3 — enforcing constraints and relationships</a:t>
            </a:r>
            <a:endParaRPr lang="en-CA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Shape 4"/>
          <p:cNvSpPr/>
          <p:nvPr/>
        </p:nvSpPr>
        <p:spPr>
          <a:xfrm>
            <a:off x="7132320" y="164520"/>
            <a:ext cx="1828440" cy="292320"/>
          </a:xfrm>
          <a:prstGeom prst="rect">
            <a:avLst/>
          </a:prstGeom>
          <a:solidFill>
            <a:srgbClr val="1A7A8A"/>
          </a:solidFill>
          <a:ln w="12700">
            <a:solidFill>
              <a:srgbClr val="1A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CA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5"/>
          <p:cNvSpPr/>
          <p:nvPr/>
        </p:nvSpPr>
        <p:spPr>
          <a:xfrm>
            <a:off x="7132320" y="164520"/>
            <a:ext cx="18284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SQL IMPLEMENTATION</a:t>
            </a:r>
            <a:endParaRPr lang="en-CA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Shape 6"/>
          <p:cNvSpPr/>
          <p:nvPr/>
        </p:nvSpPr>
        <p:spPr>
          <a:xfrm>
            <a:off x="274320" y="1005840"/>
            <a:ext cx="4205880" cy="3200040"/>
          </a:xfrm>
          <a:prstGeom prst="rect">
            <a:avLst/>
          </a:prstGeom>
          <a:solidFill>
            <a:srgbClr val="0D1B2E"/>
          </a:solidFill>
          <a:ln w="12700">
            <a:solidFill>
              <a:srgbClr val="1A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CA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7"/>
          <p:cNvSpPr/>
          <p:nvPr/>
        </p:nvSpPr>
        <p:spPr>
          <a:xfrm>
            <a:off x="384120" y="1078920"/>
            <a:ext cx="3986280" cy="30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B8D4E8"/>
                </a:solidFill>
                <a:effectLst/>
                <a:uFillTx/>
                <a:latin typeface="Consolas"/>
                <a:ea typeface="Consolas"/>
              </a:rPr>
              <a:t>CREATE TABLE Member (</a:t>
            </a:r>
            <a:endParaRPr lang="en-CA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B8D4E8"/>
                </a:solidFill>
                <a:effectLst/>
                <a:uFillTx/>
                <a:latin typeface="Consolas"/>
                <a:ea typeface="Consolas"/>
              </a:rPr>
              <a:t>  memberID  INTEGER PRIMARY KEY,</a:t>
            </a:r>
            <a:endParaRPr lang="en-CA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B8D4E8"/>
                </a:solidFill>
                <a:effectLst/>
                <a:uFillTx/>
                <a:latin typeface="Consolas"/>
                <a:ea typeface="Consolas"/>
              </a:rPr>
              <a:t>  firstName TEXT NOT NULL,</a:t>
            </a:r>
            <a:endParaRPr lang="en-CA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B8D4E8"/>
                </a:solidFill>
                <a:effectLst/>
                <a:uFillTx/>
                <a:latin typeface="Consolas"/>
                <a:ea typeface="Consolas"/>
              </a:rPr>
              <a:t>  lastName  TEXT NOT NULL,</a:t>
            </a:r>
            <a:endParaRPr lang="en-CA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B8D4E8"/>
                </a:solidFill>
                <a:effectLst/>
                <a:uFillTx/>
                <a:latin typeface="Consolas"/>
                <a:ea typeface="Consolas"/>
              </a:rPr>
              <a:t>  email     TEXT NOT NULL UNIQUE,</a:t>
            </a:r>
            <a:endParaRPr lang="en-CA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B8D4E8"/>
                </a:solidFill>
                <a:effectLst/>
                <a:uFillTx/>
                <a:latin typeface="Consolas"/>
                <a:ea typeface="Consolas"/>
              </a:rPr>
              <a:t>  phone     TEXT</a:t>
            </a:r>
            <a:endParaRPr lang="en-CA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B8D4E8"/>
                </a:solidFill>
                <a:effectLst/>
                <a:uFillTx/>
                <a:latin typeface="Consolas"/>
                <a:ea typeface="Consolas"/>
              </a:rPr>
              <a:t>);</a:t>
            </a:r>
            <a:endParaRPr lang="en-CA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CA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B8D4E8"/>
                </a:solidFill>
                <a:effectLst/>
                <a:uFillTx/>
                <a:latin typeface="Consolas"/>
                <a:ea typeface="Consolas"/>
              </a:rPr>
              <a:t>CREATE TABLE Coach (</a:t>
            </a:r>
            <a:endParaRPr lang="en-CA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B8D4E8"/>
                </a:solidFill>
                <a:effectLst/>
                <a:uFillTx/>
                <a:latin typeface="Consolas"/>
                <a:ea typeface="Consolas"/>
              </a:rPr>
              <a:t>  coachID   INTEGER PRIMARY KEY,</a:t>
            </a:r>
            <a:endParaRPr lang="en-CA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B8D4E8"/>
                </a:solidFill>
                <a:effectLst/>
                <a:uFillTx/>
                <a:latin typeface="Consolas"/>
                <a:ea typeface="Consolas"/>
              </a:rPr>
              <a:t>  firstName TEXT NOT NULL,</a:t>
            </a:r>
            <a:endParaRPr lang="en-CA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B8D4E8"/>
                </a:solidFill>
                <a:effectLst/>
                <a:uFillTx/>
                <a:latin typeface="Consolas"/>
                <a:ea typeface="Consolas"/>
              </a:rPr>
              <a:t>  lastName  TEXT NOT NULL,</a:t>
            </a:r>
            <a:endParaRPr lang="en-CA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B8D4E8"/>
                </a:solidFill>
                <a:effectLst/>
                <a:uFillTx/>
                <a:latin typeface="Consolas"/>
                <a:ea typeface="Consolas"/>
              </a:rPr>
              <a:t>  level     TEXT,</a:t>
            </a:r>
            <a:endParaRPr lang="en-CA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B8D4E8"/>
                </a:solidFill>
                <a:effectLst/>
                <a:uFillTx/>
                <a:latin typeface="Consolas"/>
                <a:ea typeface="Consolas"/>
              </a:rPr>
              <a:t>  avgRating REAL,</a:t>
            </a:r>
            <a:endParaRPr lang="en-CA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B8D4E8"/>
                </a:solidFill>
                <a:effectLst/>
                <a:uFillTx/>
                <a:latin typeface="Consolas"/>
                <a:ea typeface="Consolas"/>
              </a:rPr>
              <a:t>  trainingPhilosophy TEXT,</a:t>
            </a:r>
            <a:endParaRPr lang="en-CA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B8D4E8"/>
                </a:solidFill>
                <a:effectLst/>
                <a:uFillTx/>
                <a:latin typeface="Consolas"/>
                <a:ea typeface="Consolas"/>
              </a:rPr>
              <a:t>  photo     TEXT</a:t>
            </a:r>
            <a:endParaRPr lang="en-CA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B8D4E8"/>
                </a:solidFill>
                <a:effectLst/>
                <a:uFillTx/>
                <a:latin typeface="Consolas"/>
                <a:ea typeface="Consolas"/>
              </a:rPr>
              <a:t>);</a:t>
            </a:r>
            <a:endParaRPr lang="en-CA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Shape 8"/>
          <p:cNvSpPr/>
          <p:nvPr/>
        </p:nvSpPr>
        <p:spPr>
          <a:xfrm>
            <a:off x="4663440" y="1005840"/>
            <a:ext cx="4205880" cy="3200040"/>
          </a:xfrm>
          <a:prstGeom prst="rect">
            <a:avLst/>
          </a:prstGeom>
          <a:solidFill>
            <a:srgbClr val="0D1B2E"/>
          </a:solidFill>
          <a:ln w="12700">
            <a:solidFill>
              <a:srgbClr val="1A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CA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9"/>
          <p:cNvSpPr/>
          <p:nvPr/>
        </p:nvSpPr>
        <p:spPr>
          <a:xfrm>
            <a:off x="4773240" y="1078920"/>
            <a:ext cx="3986280" cy="30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B8D4E8"/>
                </a:solidFill>
                <a:effectLst/>
                <a:uFillTx/>
                <a:latin typeface="Consolas"/>
                <a:ea typeface="Consolas"/>
              </a:rPr>
              <a:t>CREATE TABLE Location (</a:t>
            </a:r>
            <a:endParaRPr lang="en-CA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B8D4E8"/>
                </a:solidFill>
                <a:effectLst/>
                <a:uFillTx/>
                <a:latin typeface="Consolas"/>
                <a:ea typeface="Consolas"/>
              </a:rPr>
              <a:t>  locationID   INTEGER PRIMARY KEY,</a:t>
            </a:r>
            <a:endParaRPr lang="en-CA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B8D4E8"/>
                </a:solidFill>
                <a:effectLst/>
                <a:uFillTx/>
                <a:latin typeface="Consolas"/>
                <a:ea typeface="Consolas"/>
              </a:rPr>
              <a:t>  locationName TEXT NOT NULL,</a:t>
            </a:r>
            <a:endParaRPr lang="en-CA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B8D4E8"/>
                </a:solidFill>
                <a:effectLst/>
                <a:uFillTx/>
                <a:latin typeface="Consolas"/>
                <a:ea typeface="Consolas"/>
              </a:rPr>
              <a:t>  address      TEXT NOT NULL,</a:t>
            </a:r>
            <a:endParaRPr lang="en-CA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B8D4E8"/>
                </a:solidFill>
                <a:effectLst/>
                <a:uFillTx/>
                <a:latin typeface="Consolas"/>
                <a:ea typeface="Consolas"/>
              </a:rPr>
              <a:t>  telephone    TEXT,</a:t>
            </a:r>
            <a:endParaRPr lang="en-CA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B8D4E8"/>
                </a:solidFill>
                <a:effectLst/>
                <a:uFillTx/>
                <a:latin typeface="Consolas"/>
                <a:ea typeface="Consolas"/>
              </a:rPr>
              <a:t>  email        TEXT,</a:t>
            </a:r>
            <a:endParaRPr lang="en-CA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B8D4E8"/>
                </a:solidFill>
                <a:effectLst/>
                <a:uFillTx/>
                <a:latin typeface="Consolas"/>
                <a:ea typeface="Consolas"/>
              </a:rPr>
              <a:t>  photo        TEXT</a:t>
            </a:r>
            <a:endParaRPr lang="en-CA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B8D4E8"/>
                </a:solidFill>
                <a:effectLst/>
                <a:uFillTx/>
                <a:latin typeface="Consolas"/>
                <a:ea typeface="Consolas"/>
              </a:rPr>
              <a:t>);</a:t>
            </a:r>
            <a:endParaRPr lang="en-CA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CA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B8D4E8"/>
                </a:solidFill>
                <a:effectLst/>
                <a:uFillTx/>
                <a:latin typeface="Consolas"/>
                <a:ea typeface="Consolas"/>
              </a:rPr>
              <a:t>CREATE TABLE Location_Coach (</a:t>
            </a:r>
            <a:endParaRPr lang="en-CA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B8D4E8"/>
                </a:solidFill>
                <a:effectLst/>
                <a:uFillTx/>
                <a:latin typeface="Consolas"/>
                <a:ea typeface="Consolas"/>
              </a:rPr>
              <a:t>  locationID INTEGER NOT NULL,</a:t>
            </a:r>
            <a:endParaRPr lang="en-CA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B8D4E8"/>
                </a:solidFill>
                <a:effectLst/>
                <a:uFillTx/>
                <a:latin typeface="Consolas"/>
                <a:ea typeface="Consolas"/>
              </a:rPr>
              <a:t>  coachID    INTEGER NOT NULL,</a:t>
            </a:r>
            <a:endParaRPr lang="en-CA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B8D4E8"/>
                </a:solidFill>
                <a:effectLst/>
                <a:uFillTx/>
                <a:latin typeface="Consolas"/>
                <a:ea typeface="Consolas"/>
              </a:rPr>
              <a:t>  PRIMARY KEY (locationID, coachID),</a:t>
            </a:r>
            <a:endParaRPr lang="en-CA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B8D4E8"/>
                </a:solidFill>
                <a:effectLst/>
                <a:uFillTx/>
                <a:latin typeface="Consolas"/>
                <a:ea typeface="Consolas"/>
              </a:rPr>
              <a:t>  FOREIGN KEY (locationID)</a:t>
            </a:r>
            <a:endParaRPr lang="en-CA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B8D4E8"/>
                </a:solidFill>
                <a:effectLst/>
                <a:uFillTx/>
                <a:latin typeface="Consolas"/>
                <a:ea typeface="Consolas"/>
              </a:rPr>
              <a:t>    REFERENCES Location(locationID),</a:t>
            </a:r>
            <a:endParaRPr lang="en-CA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B8D4E8"/>
                </a:solidFill>
                <a:effectLst/>
                <a:uFillTx/>
                <a:latin typeface="Consolas"/>
                <a:ea typeface="Consolas"/>
              </a:rPr>
              <a:t>  FOREIGN KEY (coachID)</a:t>
            </a:r>
            <a:endParaRPr lang="en-CA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B8D4E8"/>
                </a:solidFill>
                <a:effectLst/>
                <a:uFillTx/>
                <a:latin typeface="Consolas"/>
                <a:ea typeface="Consolas"/>
              </a:rPr>
              <a:t>    REFERENCES Coach(coachID)</a:t>
            </a:r>
            <a:endParaRPr lang="en-CA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B8D4E8"/>
                </a:solidFill>
                <a:effectLst/>
                <a:uFillTx/>
                <a:latin typeface="Consolas"/>
                <a:ea typeface="Consolas"/>
              </a:rPr>
              <a:t>);</a:t>
            </a:r>
            <a:endParaRPr lang="en-CA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Shape 10"/>
          <p:cNvSpPr/>
          <p:nvPr/>
        </p:nvSpPr>
        <p:spPr>
          <a:xfrm>
            <a:off x="274320" y="4343400"/>
            <a:ext cx="8595000" cy="594000"/>
          </a:xfrm>
          <a:prstGeom prst="rect">
            <a:avLst/>
          </a:prstGeom>
          <a:solidFill>
            <a:srgbClr val="E2E8EF"/>
          </a:solidFill>
          <a:ln w="12700">
            <a:solidFill>
              <a:srgbClr val="E2E8E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11"/>
          <p:cNvSpPr/>
          <p:nvPr/>
        </p:nvSpPr>
        <p:spPr>
          <a:xfrm>
            <a:off x="457200" y="4370760"/>
            <a:ext cx="82292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1B2A4A"/>
                </a:solidFill>
                <a:effectLst/>
                <a:uFillTx/>
                <a:latin typeface="Calibri"/>
                <a:ea typeface="Calibri"/>
              </a:rPr>
              <a:t>All 14 tables follow the same pattern. Foreign key constraints enforce referential integrity. Association tables use composite primary keys.</a:t>
            </a:r>
            <a:endParaRPr lang="en-CA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Shape 0"/>
          <p:cNvSpPr/>
          <p:nvPr/>
        </p:nvSpPr>
        <p:spPr>
          <a:xfrm>
            <a:off x="0" y="0"/>
            <a:ext cx="9143640" cy="7768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CA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Shape 1"/>
          <p:cNvSpPr/>
          <p:nvPr/>
        </p:nvSpPr>
        <p:spPr>
          <a:xfrm>
            <a:off x="0" y="777240"/>
            <a:ext cx="9143640" cy="54360"/>
          </a:xfrm>
          <a:prstGeom prst="rect">
            <a:avLst/>
          </a:prstGeom>
          <a:solidFill>
            <a:srgbClr val="1A7A8A"/>
          </a:solidFill>
          <a:ln w="12700">
            <a:solidFill>
              <a:srgbClr val="1A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en-CA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2"/>
          <p:cNvSpPr/>
          <p:nvPr/>
        </p:nvSpPr>
        <p:spPr>
          <a:xfrm>
            <a:off x="320040" y="0"/>
            <a:ext cx="85035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SQL: INSERT Sample Data</a:t>
            </a:r>
            <a:endParaRPr lang="en-CA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3"/>
          <p:cNvSpPr/>
          <p:nvPr/>
        </p:nvSpPr>
        <p:spPr>
          <a:xfrm>
            <a:off x="320040" y="804600"/>
            <a:ext cx="66747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A7A8A"/>
                </a:solidFill>
                <a:effectLst/>
                <a:uFillTx/>
                <a:latin typeface="Calibri"/>
                <a:ea typeface="Calibri"/>
              </a:rPr>
              <a:t>Deliverable 4 — one row per table to validate structure</a:t>
            </a:r>
            <a:endParaRPr lang="en-CA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Shape 4"/>
          <p:cNvSpPr/>
          <p:nvPr/>
        </p:nvSpPr>
        <p:spPr>
          <a:xfrm>
            <a:off x="7132320" y="164520"/>
            <a:ext cx="1828440" cy="292320"/>
          </a:xfrm>
          <a:prstGeom prst="rect">
            <a:avLst/>
          </a:prstGeom>
          <a:solidFill>
            <a:srgbClr val="1A7A8A"/>
          </a:solidFill>
          <a:ln w="12700">
            <a:solidFill>
              <a:srgbClr val="1A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CA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5"/>
          <p:cNvSpPr/>
          <p:nvPr/>
        </p:nvSpPr>
        <p:spPr>
          <a:xfrm>
            <a:off x="7132320" y="164520"/>
            <a:ext cx="18284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SQL IMPLEMENTATION</a:t>
            </a:r>
            <a:endParaRPr lang="en-CA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Shape 6"/>
          <p:cNvSpPr/>
          <p:nvPr/>
        </p:nvSpPr>
        <p:spPr>
          <a:xfrm>
            <a:off x="274320" y="1005840"/>
            <a:ext cx="8595000" cy="3382920"/>
          </a:xfrm>
          <a:prstGeom prst="rect">
            <a:avLst/>
          </a:prstGeom>
          <a:solidFill>
            <a:srgbClr val="0D1B2E"/>
          </a:solidFill>
          <a:ln w="12700">
            <a:solidFill>
              <a:srgbClr val="1A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CA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7"/>
          <p:cNvSpPr/>
          <p:nvPr/>
        </p:nvSpPr>
        <p:spPr>
          <a:xfrm>
            <a:off x="384120" y="1078920"/>
            <a:ext cx="8375400" cy="323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B8D4E8"/>
                </a:solidFill>
                <a:effectLst/>
                <a:uFillTx/>
                <a:latin typeface="Consolas"/>
                <a:ea typeface="Consolas"/>
              </a:rPr>
              <a:t>-- Sample Member</a:t>
            </a:r>
            <a:endParaRPr lang="en-CA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B8D4E8"/>
                </a:solidFill>
                <a:effectLst/>
                <a:uFillTx/>
                <a:latin typeface="Consolas"/>
                <a:ea typeface="Consolas"/>
              </a:rPr>
              <a:t>INSERT INTO Member (memberID, firstName, lastName, email, phone)</a:t>
            </a:r>
            <a:endParaRPr lang="en-CA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B8D4E8"/>
                </a:solidFill>
                <a:effectLst/>
                <a:uFillTx/>
                <a:latin typeface="Consolas"/>
                <a:ea typeface="Consolas"/>
              </a:rPr>
              <a:t>VALUES (1, 'Alex', 'Johnson', 'alex.j@email.com', '647-555-0101');</a:t>
            </a:r>
            <a:endParaRPr lang="en-CA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CA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B8D4E8"/>
                </a:solidFill>
                <a:effectLst/>
                <a:uFillTx/>
                <a:latin typeface="Consolas"/>
                <a:ea typeface="Consolas"/>
              </a:rPr>
              <a:t>-- Sample Coach</a:t>
            </a:r>
            <a:endParaRPr lang="en-CA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B8D4E8"/>
                </a:solidFill>
                <a:effectLst/>
                <a:uFillTx/>
                <a:latin typeface="Consolas"/>
                <a:ea typeface="Consolas"/>
              </a:rPr>
              <a:t>INSERT INTO Coach (coachID, firstName, lastName, level, avgRating, trainingPhilosophy)</a:t>
            </a:r>
            <a:endParaRPr lang="en-CA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B8D4E8"/>
                </a:solidFill>
                <a:effectLst/>
                <a:uFillTx/>
                <a:latin typeface="Consolas"/>
                <a:ea typeface="Consolas"/>
              </a:rPr>
              <a:t>VALUES (1, 'Jordan', 'Park', 'Senior', 4.8, 'Strength-first progressive overload');</a:t>
            </a:r>
            <a:endParaRPr lang="en-CA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CA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B8D4E8"/>
                </a:solidFill>
                <a:effectLst/>
                <a:uFillTx/>
                <a:latin typeface="Consolas"/>
                <a:ea typeface="Consolas"/>
              </a:rPr>
              <a:t>-- Sample Location</a:t>
            </a:r>
            <a:endParaRPr lang="en-CA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B8D4E8"/>
                </a:solidFill>
                <a:effectLst/>
                <a:uFillTx/>
                <a:latin typeface="Consolas"/>
                <a:ea typeface="Consolas"/>
              </a:rPr>
              <a:t>INSERT INTO Location (locationID, locationName, address, telephone, email)</a:t>
            </a:r>
            <a:endParaRPr lang="en-CA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B8D4E8"/>
                </a:solidFill>
                <a:effectLst/>
                <a:uFillTx/>
                <a:latin typeface="Consolas"/>
                <a:ea typeface="Consolas"/>
              </a:rPr>
              <a:t>VALUES (1, 'Downtown Hub', '123 King St W, Toronto, ON', '416-555-1001', 'downtown@gym.com');</a:t>
            </a:r>
            <a:endParaRPr lang="en-CA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CA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B8D4E8"/>
                </a:solidFill>
                <a:effectLst/>
                <a:uFillTx/>
                <a:latin typeface="Consolas"/>
                <a:ea typeface="Consolas"/>
              </a:rPr>
              <a:t>-- Sample Class</a:t>
            </a:r>
            <a:endParaRPr lang="en-CA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B8D4E8"/>
                </a:solidFill>
                <a:effectLst/>
                <a:uFillTx/>
                <a:latin typeface="Consolas"/>
                <a:ea typeface="Consolas"/>
              </a:rPr>
              <a:t>INSERT INTO Class (classID, className, price, dayOfWeek, startTime, coachID, locationID)</a:t>
            </a:r>
            <a:endParaRPr lang="en-CA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B8D4E8"/>
                </a:solidFill>
                <a:effectLst/>
                <a:uFillTx/>
                <a:latin typeface="Consolas"/>
                <a:ea typeface="Consolas"/>
              </a:rPr>
              <a:t>VALUES (1, 'Morning HIIT', 20.00, 'Monday', '07:00', 1, 1);</a:t>
            </a:r>
            <a:endParaRPr lang="en-CA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CA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B8D4E8"/>
                </a:solidFill>
                <a:effectLst/>
                <a:uFillTx/>
                <a:latin typeface="Consolas"/>
                <a:ea typeface="Consolas"/>
              </a:rPr>
              <a:t>-- Link Member to Coach</a:t>
            </a:r>
            <a:endParaRPr lang="en-CA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B8D4E8"/>
                </a:solidFill>
                <a:effectLst/>
                <a:uFillTx/>
                <a:latin typeface="Consolas"/>
                <a:ea typeface="Consolas"/>
              </a:rPr>
              <a:t>INSERT INTO Member_Coach (memberID, coachID, assignedDate)</a:t>
            </a:r>
            <a:endParaRPr lang="en-CA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B8D4E8"/>
                </a:solidFill>
                <a:effectLst/>
                <a:uFillTx/>
                <a:latin typeface="Consolas"/>
                <a:ea typeface="Consolas"/>
              </a:rPr>
              <a:t>VALUES (1, 1, '2024-01-15');</a:t>
            </a:r>
            <a:endParaRPr lang="en-CA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Shape 8"/>
          <p:cNvSpPr/>
          <p:nvPr/>
        </p:nvSpPr>
        <p:spPr>
          <a:xfrm>
            <a:off x="274320" y="4526280"/>
            <a:ext cx="8595000" cy="411120"/>
          </a:xfrm>
          <a:prstGeom prst="rect">
            <a:avLst/>
          </a:prstGeom>
          <a:solidFill>
            <a:srgbClr val="1A7A8A"/>
          </a:solidFill>
          <a:ln w="12700">
            <a:solidFill>
              <a:srgbClr val="1A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CA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9"/>
          <p:cNvSpPr/>
          <p:nvPr/>
        </p:nvSpPr>
        <p:spPr>
          <a:xfrm>
            <a:off x="457200" y="4526280"/>
            <a:ext cx="8229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One INSERT row was added to every table to confirm schema validity and test foreign key constraints.</a:t>
            </a:r>
            <a:endParaRPr lang="en-CA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Shape 0"/>
          <p:cNvSpPr/>
          <p:nvPr/>
        </p:nvSpPr>
        <p:spPr>
          <a:xfrm>
            <a:off x="0" y="0"/>
            <a:ext cx="9143640" cy="7768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CA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" name="Shape 1"/>
          <p:cNvSpPr/>
          <p:nvPr/>
        </p:nvSpPr>
        <p:spPr>
          <a:xfrm>
            <a:off x="0" y="777240"/>
            <a:ext cx="9143640" cy="54360"/>
          </a:xfrm>
          <a:prstGeom prst="rect">
            <a:avLst/>
          </a:prstGeom>
          <a:solidFill>
            <a:srgbClr val="1A7A8A"/>
          </a:solidFill>
          <a:ln w="12700">
            <a:solidFill>
              <a:srgbClr val="1A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en-CA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2"/>
          <p:cNvSpPr/>
          <p:nvPr/>
        </p:nvSpPr>
        <p:spPr>
          <a:xfrm>
            <a:off x="320040" y="0"/>
            <a:ext cx="85035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MongoDB Collections</a:t>
            </a:r>
            <a:endParaRPr lang="en-CA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3"/>
          <p:cNvSpPr/>
          <p:nvPr/>
        </p:nvSpPr>
        <p:spPr>
          <a:xfrm>
            <a:off x="320040" y="804600"/>
            <a:ext cx="66747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A7A8A"/>
                </a:solidFill>
                <a:effectLst/>
                <a:uFillTx/>
                <a:latin typeface="Calibri"/>
                <a:ea typeface="Calibri"/>
              </a:rPr>
              <a:t>Deliverable 5 — Locations and Coaches as NoSQL documents</a:t>
            </a:r>
            <a:endParaRPr lang="en-CA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Shape 4"/>
          <p:cNvSpPr/>
          <p:nvPr/>
        </p:nvSpPr>
        <p:spPr>
          <a:xfrm>
            <a:off x="7132320" y="164520"/>
            <a:ext cx="1828440" cy="292320"/>
          </a:xfrm>
          <a:prstGeom prst="rect">
            <a:avLst/>
          </a:prstGeom>
          <a:solidFill>
            <a:srgbClr val="1A7A8A"/>
          </a:solidFill>
          <a:ln w="12700">
            <a:solidFill>
              <a:srgbClr val="1A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CA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5"/>
          <p:cNvSpPr/>
          <p:nvPr/>
        </p:nvSpPr>
        <p:spPr>
          <a:xfrm>
            <a:off x="7132320" y="164520"/>
            <a:ext cx="18284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NOSQL</a:t>
            </a:r>
            <a:endParaRPr lang="en-CA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Shape 6"/>
          <p:cNvSpPr/>
          <p:nvPr/>
        </p:nvSpPr>
        <p:spPr>
          <a:xfrm>
            <a:off x="274320" y="1005840"/>
            <a:ext cx="5028840" cy="3885840"/>
          </a:xfrm>
          <a:prstGeom prst="rect">
            <a:avLst/>
          </a:prstGeom>
          <a:solidFill>
            <a:srgbClr val="0D1B2E"/>
          </a:solidFill>
          <a:ln w="12700">
            <a:solidFill>
              <a:srgbClr val="1A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CA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7"/>
          <p:cNvSpPr/>
          <p:nvPr/>
        </p:nvSpPr>
        <p:spPr>
          <a:xfrm>
            <a:off x="384120" y="1078920"/>
            <a:ext cx="4809240" cy="373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B8D4E8"/>
                </a:solidFill>
                <a:effectLst/>
                <a:uFillTx/>
                <a:latin typeface="Consolas"/>
                <a:ea typeface="Consolas"/>
              </a:rPr>
              <a:t>use("fitness_center");</a:t>
            </a:r>
            <a:endParaRPr lang="en-CA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CA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B8D4E8"/>
                </a:solidFill>
                <a:effectLst/>
                <a:uFillTx/>
                <a:latin typeface="Consolas"/>
                <a:ea typeface="Consolas"/>
              </a:rPr>
              <a:t>db.createCollection("locations");</a:t>
            </a:r>
            <a:endParaRPr lang="en-CA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CA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B8D4E8"/>
                </a:solidFill>
                <a:effectLst/>
                <a:uFillTx/>
                <a:latin typeface="Consolas"/>
                <a:ea typeface="Consolas"/>
              </a:rPr>
              <a:t>db.locations.insertOne({</a:t>
            </a:r>
            <a:endParaRPr lang="en-CA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B8D4E8"/>
                </a:solidFill>
                <a:effectLst/>
                <a:uFillTx/>
                <a:latin typeface="Consolas"/>
                <a:ea typeface="Consolas"/>
              </a:rPr>
              <a:t>  locationID: 1,</a:t>
            </a:r>
            <a:endParaRPr lang="en-CA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B8D4E8"/>
                </a:solidFill>
                <a:effectLst/>
                <a:uFillTx/>
                <a:latin typeface="Consolas"/>
                <a:ea typeface="Consolas"/>
              </a:rPr>
              <a:t>  locationName: "Downtown Hub",</a:t>
            </a:r>
            <a:endParaRPr lang="en-CA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B8D4E8"/>
                </a:solidFill>
                <a:effectLst/>
                <a:uFillTx/>
                <a:latin typeface="Consolas"/>
                <a:ea typeface="Consolas"/>
              </a:rPr>
              <a:t>  address: "123 King St W, Toronto, ON",</a:t>
            </a:r>
            <a:endParaRPr lang="en-CA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B8D4E8"/>
                </a:solidFill>
                <a:effectLst/>
                <a:uFillTx/>
                <a:latin typeface="Consolas"/>
                <a:ea typeface="Consolas"/>
              </a:rPr>
              <a:t>  telephone: "416-555-1001",</a:t>
            </a:r>
            <a:endParaRPr lang="en-CA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B8D4E8"/>
                </a:solidFill>
                <a:effectLst/>
                <a:uFillTx/>
                <a:latin typeface="Consolas"/>
                <a:ea typeface="Consolas"/>
              </a:rPr>
              <a:t>  amenities: ["Swimming Pool", "Sauna", "Spin Studio"]</a:t>
            </a:r>
            <a:endParaRPr lang="en-CA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B8D4E8"/>
                </a:solidFill>
                <a:effectLst/>
                <a:uFillTx/>
                <a:latin typeface="Consolas"/>
                <a:ea typeface="Consolas"/>
              </a:rPr>
              <a:t>});</a:t>
            </a:r>
            <a:endParaRPr lang="en-CA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CA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B8D4E8"/>
                </a:solidFill>
                <a:effectLst/>
                <a:uFillTx/>
                <a:latin typeface="Consolas"/>
                <a:ea typeface="Consolas"/>
              </a:rPr>
              <a:t>db.createCollection("coaches");</a:t>
            </a:r>
            <a:endParaRPr lang="en-CA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CA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B8D4E8"/>
                </a:solidFill>
                <a:effectLst/>
                <a:uFillTx/>
                <a:latin typeface="Consolas"/>
                <a:ea typeface="Consolas"/>
              </a:rPr>
              <a:t>db.coaches.insertOne({</a:t>
            </a:r>
            <a:endParaRPr lang="en-CA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B8D4E8"/>
                </a:solidFill>
                <a:effectLst/>
                <a:uFillTx/>
                <a:latin typeface="Consolas"/>
                <a:ea typeface="Consolas"/>
              </a:rPr>
              <a:t>  coachID: 1,</a:t>
            </a:r>
            <a:endParaRPr lang="en-CA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B8D4E8"/>
                </a:solidFill>
                <a:effectLst/>
                <a:uFillTx/>
                <a:latin typeface="Consolas"/>
                <a:ea typeface="Consolas"/>
              </a:rPr>
              <a:t>  firstName: "Jordan", lastName: "Park",</a:t>
            </a:r>
            <a:endParaRPr lang="en-CA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B8D4E8"/>
                </a:solidFill>
                <a:effectLst/>
                <a:uFillTx/>
                <a:latin typeface="Consolas"/>
                <a:ea typeface="Consolas"/>
              </a:rPr>
              <a:t>  level: "Senior", avgRating: 4.8,</a:t>
            </a:r>
            <a:endParaRPr lang="en-CA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B8D4E8"/>
                </a:solidFill>
                <a:effectLst/>
                <a:uFillTx/>
                <a:latin typeface="Consolas"/>
                <a:ea typeface="Consolas"/>
              </a:rPr>
              <a:t>  locations: ["Downtown Hub"],</a:t>
            </a:r>
            <a:endParaRPr lang="en-CA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B8D4E8"/>
                </a:solidFill>
                <a:effectLst/>
                <a:uFillTx/>
                <a:latin typeface="Consolas"/>
                <a:ea typeface="Consolas"/>
              </a:rPr>
              <a:t>  certificates: [{ certID: 1, dateObtained: "2018-06-15" }],</a:t>
            </a:r>
            <a:endParaRPr lang="en-CA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B8D4E8"/>
                </a:solidFill>
                <a:effectLst/>
                <a:uFillTx/>
                <a:latin typeface="Consolas"/>
                <a:ea typeface="Consolas"/>
              </a:rPr>
              <a:t>  references: [{ clientName: "Marcus Reid",</a:t>
            </a:r>
            <a:endParaRPr lang="en-CA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B8D4E8"/>
                </a:solidFill>
                <a:effectLst/>
                <a:uFillTx/>
                <a:latin typeface="Consolas"/>
                <a:ea typeface="Consolas"/>
              </a:rPr>
              <a:t>                 clientEmail: "mreid@corp.com" }]</a:t>
            </a:r>
            <a:endParaRPr lang="en-CA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B8D4E8"/>
                </a:solidFill>
                <a:effectLst/>
                <a:uFillTx/>
                <a:latin typeface="Consolas"/>
                <a:ea typeface="Consolas"/>
              </a:rPr>
              <a:t>});</a:t>
            </a:r>
            <a:endParaRPr lang="en-CA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Shape 8"/>
          <p:cNvSpPr/>
          <p:nvPr/>
        </p:nvSpPr>
        <p:spPr>
          <a:xfrm>
            <a:off x="5532120" y="1005840"/>
            <a:ext cx="3337200" cy="38858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CA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9"/>
          <p:cNvSpPr/>
          <p:nvPr/>
        </p:nvSpPr>
        <p:spPr>
          <a:xfrm>
            <a:off x="5669280" y="1143000"/>
            <a:ext cx="30628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0A500"/>
                </a:solidFill>
                <a:effectLst/>
                <a:uFillTx/>
                <a:latin typeface="Calibri"/>
                <a:ea typeface="Calibri"/>
              </a:rPr>
              <a:t>Why MongoDB?</a:t>
            </a:r>
            <a:endParaRPr lang="en-CA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10"/>
          <p:cNvSpPr/>
          <p:nvPr/>
        </p:nvSpPr>
        <p:spPr>
          <a:xfrm>
            <a:off x="5669280" y="1536120"/>
            <a:ext cx="3062880" cy="306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E2E8EF"/>
              </a:buClr>
              <a:buFont typeface="Symbol" charset="2"/>
              <a:buChar char=""/>
            </a:pPr>
            <a:r>
              <a:rPr lang="en-US" sz="1050" b="0" u="none" strike="noStrike">
                <a:solidFill>
                  <a:srgbClr val="E2E8EF"/>
                </a:solidFill>
                <a:effectLst/>
                <a:uFillTx/>
                <a:latin typeface="Calibri"/>
                <a:ea typeface="Calibri"/>
              </a:rPr>
              <a:t>Amenities and certificates are variable-length arrays, ideal for document storage.</a:t>
            </a:r>
            <a:endParaRPr lang="en-CA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E2E8EF"/>
              </a:buClr>
              <a:buFont typeface="Symbol" charset="2"/>
              <a:buChar char=""/>
            </a:pPr>
            <a:r>
              <a:rPr lang="en-US" sz="1050" b="0" u="none" strike="noStrike">
                <a:solidFill>
                  <a:srgbClr val="E2E8EF"/>
                </a:solidFill>
                <a:effectLst/>
                <a:uFillTx/>
                <a:latin typeface="Calibri"/>
                <a:ea typeface="Calibri"/>
              </a:rPr>
              <a:t>Avoids extra junction tables required in relational SQL.</a:t>
            </a:r>
            <a:endParaRPr lang="en-CA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E2E8EF"/>
              </a:buClr>
              <a:buFont typeface="Symbol" charset="2"/>
              <a:buChar char=""/>
            </a:pPr>
            <a:r>
              <a:rPr lang="en-US" sz="1050" b="0" u="none" strike="noStrike">
                <a:solidFill>
                  <a:srgbClr val="E2E8EF"/>
                </a:solidFill>
                <a:effectLst/>
                <a:uFillTx/>
                <a:latin typeface="Calibri"/>
                <a:ea typeface="Calibri"/>
              </a:rPr>
              <a:t>Locations and Coaches are self-contained documents, making reads faster.</a:t>
            </a:r>
            <a:endParaRPr lang="en-CA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E2E8EF"/>
              </a:buClr>
              <a:buFont typeface="Symbol" charset="2"/>
              <a:buChar char=""/>
            </a:pPr>
            <a:r>
              <a:rPr lang="en-US" sz="1050" b="0" u="none" strike="noStrike">
                <a:solidFill>
                  <a:srgbClr val="E2E8EF"/>
                </a:solidFill>
                <a:effectLst/>
                <a:uFillTx/>
                <a:latin typeface="Calibri"/>
                <a:ea typeface="Calibri"/>
              </a:rPr>
              <a:t>Demonstrates polyglot persistence: SQL for structured data, MongoDB for flexible embedded data.</a:t>
            </a:r>
            <a:endParaRPr lang="en-CA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Shape 0"/>
          <p:cNvSpPr/>
          <p:nvPr/>
        </p:nvSpPr>
        <p:spPr>
          <a:xfrm>
            <a:off x="0" y="0"/>
            <a:ext cx="9143640" cy="7768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CA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Shape 1"/>
          <p:cNvSpPr/>
          <p:nvPr/>
        </p:nvSpPr>
        <p:spPr>
          <a:xfrm>
            <a:off x="0" y="777240"/>
            <a:ext cx="9143640" cy="54360"/>
          </a:xfrm>
          <a:prstGeom prst="rect">
            <a:avLst/>
          </a:prstGeom>
          <a:solidFill>
            <a:srgbClr val="1A7A8A"/>
          </a:solidFill>
          <a:ln w="12700">
            <a:solidFill>
              <a:srgbClr val="1A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en-CA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2"/>
          <p:cNvSpPr/>
          <p:nvPr/>
        </p:nvSpPr>
        <p:spPr>
          <a:xfrm>
            <a:off x="320040" y="0"/>
            <a:ext cx="85035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SQL SELECT Statements</a:t>
            </a:r>
            <a:endParaRPr lang="en-CA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3"/>
          <p:cNvSpPr/>
          <p:nvPr/>
        </p:nvSpPr>
        <p:spPr>
          <a:xfrm>
            <a:off x="320040" y="804600"/>
            <a:ext cx="66747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A7A8A"/>
                </a:solidFill>
                <a:effectLst/>
                <a:uFillTx/>
                <a:latin typeface="Calibri"/>
                <a:ea typeface="Calibri"/>
              </a:rPr>
              <a:t>Deliverable 6 — queries mapped to 4 wireframe screens</a:t>
            </a:r>
            <a:endParaRPr lang="en-CA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Shape 4"/>
          <p:cNvSpPr/>
          <p:nvPr/>
        </p:nvSpPr>
        <p:spPr>
          <a:xfrm>
            <a:off x="7132320" y="164520"/>
            <a:ext cx="1828440" cy="292320"/>
          </a:xfrm>
          <a:prstGeom prst="rect">
            <a:avLst/>
          </a:prstGeom>
          <a:solidFill>
            <a:srgbClr val="1A7A8A"/>
          </a:solidFill>
          <a:ln w="12700">
            <a:solidFill>
              <a:srgbClr val="1A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CA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5"/>
          <p:cNvSpPr/>
          <p:nvPr/>
        </p:nvSpPr>
        <p:spPr>
          <a:xfrm>
            <a:off x="7132320" y="164520"/>
            <a:ext cx="18284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SELECT QUERIES</a:t>
            </a:r>
            <a:endParaRPr lang="en-CA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Shape 6"/>
          <p:cNvSpPr/>
          <p:nvPr/>
        </p:nvSpPr>
        <p:spPr>
          <a:xfrm>
            <a:off x="228600" y="1005840"/>
            <a:ext cx="4205880" cy="1874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F"/>
            </a:solidFill>
            <a:round/>
          </a:ln>
          <a:effectLst>
            <a:outerShdw algn="bl" blurRad="50760" dir="8100000" dist="12218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Shape 7"/>
          <p:cNvSpPr/>
          <p:nvPr/>
        </p:nvSpPr>
        <p:spPr>
          <a:xfrm>
            <a:off x="228600" y="1005840"/>
            <a:ext cx="145800" cy="1874160"/>
          </a:xfrm>
          <a:prstGeom prst="rect">
            <a:avLst/>
          </a:prstGeom>
          <a:solidFill>
            <a:srgbClr val="1A7A8A"/>
          </a:solidFill>
          <a:ln w="12700">
            <a:solidFill>
              <a:srgbClr val="1A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CA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8"/>
          <p:cNvSpPr/>
          <p:nvPr/>
        </p:nvSpPr>
        <p:spPr>
          <a:xfrm>
            <a:off x="457200" y="1069920"/>
            <a:ext cx="38858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1A7A8A"/>
                </a:solidFill>
                <a:effectLst/>
                <a:uFillTx/>
                <a:latin typeface="Calibri"/>
                <a:ea typeface="Calibri"/>
              </a:rPr>
              <a:t>Wireframe 1</a:t>
            </a:r>
            <a:endParaRPr lang="en-CA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9"/>
          <p:cNvSpPr/>
          <p:nvPr/>
        </p:nvSpPr>
        <p:spPr>
          <a:xfrm>
            <a:off x="457200" y="1252800"/>
            <a:ext cx="38858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1B2A4A"/>
                </a:solidFill>
                <a:effectLst/>
                <a:uFillTx/>
                <a:latin typeface="Calibri"/>
                <a:ea typeface="Calibri"/>
              </a:rPr>
              <a:t>Locations Tab</a:t>
            </a:r>
            <a:endParaRPr lang="en-CA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Shape 10"/>
          <p:cNvSpPr/>
          <p:nvPr/>
        </p:nvSpPr>
        <p:spPr>
          <a:xfrm>
            <a:off x="429840" y="1499760"/>
            <a:ext cx="3913200" cy="1279800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CA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11"/>
          <p:cNvSpPr/>
          <p:nvPr/>
        </p:nvSpPr>
        <p:spPr>
          <a:xfrm>
            <a:off x="484560" y="1536120"/>
            <a:ext cx="3803400" cy="120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8ABFE8"/>
                </a:solidFill>
                <a:effectLst/>
                <a:uFillTx/>
                <a:latin typeface="Consolas"/>
                <a:ea typeface="Consolas"/>
              </a:rPr>
              <a:t>SELECT l.locationName,</a:t>
            </a:r>
            <a:endParaRPr lang="en-CA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8ABFE8"/>
                </a:solidFill>
                <a:effectLst/>
                <a:uFillTx/>
                <a:latin typeface="Consolas"/>
                <a:ea typeface="Consolas"/>
              </a:rPr>
              <a:t>  SUM(mv.visitCount) AS timesVisited</a:t>
            </a:r>
            <a:endParaRPr lang="en-CA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8ABFE8"/>
                </a:solidFill>
                <a:effectLst/>
                <a:uFillTx/>
                <a:latin typeface="Consolas"/>
                <a:ea typeface="Consolas"/>
              </a:rPr>
              <a:t>FROM Member_Visit mv</a:t>
            </a:r>
            <a:endParaRPr lang="en-CA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8ABFE8"/>
                </a:solidFill>
                <a:effectLst/>
                <a:uFillTx/>
                <a:latin typeface="Consolas"/>
                <a:ea typeface="Consolas"/>
              </a:rPr>
              <a:t>JOIN Location l</a:t>
            </a:r>
            <a:endParaRPr lang="en-CA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8ABFE8"/>
                </a:solidFill>
                <a:effectLst/>
                <a:uFillTx/>
                <a:latin typeface="Consolas"/>
                <a:ea typeface="Consolas"/>
              </a:rPr>
              <a:t>  ON l.locationID = mv.locationID</a:t>
            </a:r>
            <a:endParaRPr lang="en-CA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8ABFE8"/>
                </a:solidFill>
                <a:effectLst/>
                <a:uFillTx/>
                <a:latin typeface="Consolas"/>
                <a:ea typeface="Consolas"/>
              </a:rPr>
              <a:t>WHERE mv.memberID = 1</a:t>
            </a:r>
            <a:endParaRPr lang="en-CA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8ABFE8"/>
                </a:solidFill>
                <a:effectLst/>
                <a:uFillTx/>
                <a:latin typeface="Consolas"/>
                <a:ea typeface="Consolas"/>
              </a:rPr>
              <a:t>  AND strftime('%Y-%m', mv.visitDate)</a:t>
            </a:r>
            <a:endParaRPr lang="en-CA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8ABFE8"/>
                </a:solidFill>
                <a:effectLst/>
                <a:uFillTx/>
                <a:latin typeface="Consolas"/>
                <a:ea typeface="Consolas"/>
              </a:rPr>
              <a:t>      = strftime('%Y-%m', 'now')</a:t>
            </a:r>
            <a:endParaRPr lang="en-CA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8ABFE8"/>
                </a:solidFill>
                <a:effectLst/>
                <a:uFillTx/>
                <a:latin typeface="Consolas"/>
                <a:ea typeface="Consolas"/>
              </a:rPr>
              <a:t>GROUP BY l.locationID;</a:t>
            </a:r>
            <a:endParaRPr lang="en-CA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Shape 12"/>
          <p:cNvSpPr/>
          <p:nvPr/>
        </p:nvSpPr>
        <p:spPr>
          <a:xfrm>
            <a:off x="4663440" y="1005840"/>
            <a:ext cx="4205880" cy="1874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F"/>
            </a:solidFill>
            <a:round/>
          </a:ln>
          <a:effectLst>
            <a:outerShdw algn="bl" blurRad="50760" dir="8100000" dist="12218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Shape 13"/>
          <p:cNvSpPr/>
          <p:nvPr/>
        </p:nvSpPr>
        <p:spPr>
          <a:xfrm>
            <a:off x="4663440" y="1005840"/>
            <a:ext cx="145800" cy="1874160"/>
          </a:xfrm>
          <a:prstGeom prst="rect">
            <a:avLst/>
          </a:prstGeom>
          <a:solidFill>
            <a:srgbClr val="1A7A8A"/>
          </a:solidFill>
          <a:ln w="12700">
            <a:solidFill>
              <a:srgbClr val="1A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CA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14"/>
          <p:cNvSpPr/>
          <p:nvPr/>
        </p:nvSpPr>
        <p:spPr>
          <a:xfrm>
            <a:off x="4892040" y="1069920"/>
            <a:ext cx="38858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1A7A8A"/>
                </a:solidFill>
                <a:effectLst/>
                <a:uFillTx/>
                <a:latin typeface="Calibri"/>
                <a:ea typeface="Calibri"/>
              </a:rPr>
              <a:t>Wireframe 2</a:t>
            </a:r>
            <a:endParaRPr lang="en-CA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15"/>
          <p:cNvSpPr/>
          <p:nvPr/>
        </p:nvSpPr>
        <p:spPr>
          <a:xfrm>
            <a:off x="4892040" y="1252800"/>
            <a:ext cx="38858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1B2A4A"/>
                </a:solidFill>
                <a:effectLst/>
                <a:uFillTx/>
                <a:latin typeface="Calibri"/>
                <a:ea typeface="Calibri"/>
              </a:rPr>
              <a:t>Midtown Location Tab</a:t>
            </a:r>
            <a:endParaRPr lang="en-CA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Shape 16"/>
          <p:cNvSpPr/>
          <p:nvPr/>
        </p:nvSpPr>
        <p:spPr>
          <a:xfrm>
            <a:off x="4864680" y="1499760"/>
            <a:ext cx="3913200" cy="1279800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CA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17"/>
          <p:cNvSpPr/>
          <p:nvPr/>
        </p:nvSpPr>
        <p:spPr>
          <a:xfrm>
            <a:off x="4919400" y="1536120"/>
            <a:ext cx="3803400" cy="120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8ABFE8"/>
                </a:solidFill>
                <a:effectLst/>
                <a:uFillTx/>
                <a:latin typeface="Consolas"/>
                <a:ea typeface="Consolas"/>
              </a:rPr>
              <a:t>SELECT locationName, address,</a:t>
            </a:r>
            <a:endParaRPr lang="en-CA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8ABFE8"/>
                </a:solidFill>
                <a:effectLst/>
                <a:uFillTx/>
                <a:latin typeface="Consolas"/>
                <a:ea typeface="Consolas"/>
              </a:rPr>
              <a:t>       telephone, email</a:t>
            </a:r>
            <a:endParaRPr lang="en-CA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8ABFE8"/>
                </a:solidFill>
                <a:effectLst/>
                <a:uFillTx/>
                <a:latin typeface="Consolas"/>
                <a:ea typeface="Consolas"/>
              </a:rPr>
              <a:t>FROM Location</a:t>
            </a:r>
            <a:endParaRPr lang="en-CA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8ABFE8"/>
                </a:solidFill>
                <a:effectLst/>
                <a:uFillTx/>
                <a:latin typeface="Consolas"/>
                <a:ea typeface="Consolas"/>
              </a:rPr>
              <a:t>WHERE locationName = 'Midtown Studio';</a:t>
            </a:r>
            <a:endParaRPr lang="en-CA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CA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8ABFE8"/>
                </a:solidFill>
                <a:effectLst/>
                <a:uFillTx/>
                <a:latin typeface="Consolas"/>
                <a:ea typeface="Consolas"/>
              </a:rPr>
              <a:t>SELECT a.amenityName FROM Amenity a</a:t>
            </a:r>
            <a:endParaRPr lang="en-CA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8ABFE8"/>
                </a:solidFill>
                <a:effectLst/>
                <a:uFillTx/>
                <a:latin typeface="Consolas"/>
                <a:ea typeface="Consolas"/>
              </a:rPr>
              <a:t>JOIN Location_Amenity la</a:t>
            </a:r>
            <a:endParaRPr lang="en-CA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8ABFE8"/>
                </a:solidFill>
                <a:effectLst/>
                <a:uFillTx/>
                <a:latin typeface="Consolas"/>
                <a:ea typeface="Consolas"/>
              </a:rPr>
              <a:t>  ON la.amenityID = a.amenityID</a:t>
            </a:r>
            <a:endParaRPr lang="en-CA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8ABFE8"/>
                </a:solidFill>
                <a:effectLst/>
                <a:uFillTx/>
                <a:latin typeface="Consolas"/>
                <a:ea typeface="Consolas"/>
              </a:rPr>
              <a:t>JOIN Location l</a:t>
            </a:r>
            <a:endParaRPr lang="en-CA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8ABFE8"/>
                </a:solidFill>
                <a:effectLst/>
                <a:uFillTx/>
                <a:latin typeface="Consolas"/>
                <a:ea typeface="Consolas"/>
              </a:rPr>
              <a:t>  ON l.locationID = la.locationID</a:t>
            </a:r>
            <a:endParaRPr lang="en-CA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8ABFE8"/>
                </a:solidFill>
                <a:effectLst/>
                <a:uFillTx/>
                <a:latin typeface="Consolas"/>
                <a:ea typeface="Consolas"/>
              </a:rPr>
              <a:t>WHERE l.locationName = 'Midtown Studio';</a:t>
            </a:r>
            <a:endParaRPr lang="en-CA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Shape 18"/>
          <p:cNvSpPr/>
          <p:nvPr/>
        </p:nvSpPr>
        <p:spPr>
          <a:xfrm>
            <a:off x="228600" y="3017520"/>
            <a:ext cx="4205880" cy="1874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F"/>
            </a:solidFill>
            <a:round/>
          </a:ln>
          <a:effectLst>
            <a:outerShdw algn="bl" blurRad="50760" dir="8100000" dist="12218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Shape 19"/>
          <p:cNvSpPr/>
          <p:nvPr/>
        </p:nvSpPr>
        <p:spPr>
          <a:xfrm>
            <a:off x="228600" y="3017520"/>
            <a:ext cx="145800" cy="1874160"/>
          </a:xfrm>
          <a:prstGeom prst="rect">
            <a:avLst/>
          </a:prstGeom>
          <a:solidFill>
            <a:srgbClr val="1A7A8A"/>
          </a:solidFill>
          <a:ln w="12700">
            <a:solidFill>
              <a:srgbClr val="1A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CA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20"/>
          <p:cNvSpPr/>
          <p:nvPr/>
        </p:nvSpPr>
        <p:spPr>
          <a:xfrm>
            <a:off x="457200" y="3081600"/>
            <a:ext cx="38858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1A7A8A"/>
                </a:solidFill>
                <a:effectLst/>
                <a:uFillTx/>
                <a:latin typeface="Calibri"/>
                <a:ea typeface="Calibri"/>
              </a:rPr>
              <a:t>Wireframe 3</a:t>
            </a:r>
            <a:endParaRPr lang="en-CA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21"/>
          <p:cNvSpPr/>
          <p:nvPr/>
        </p:nvSpPr>
        <p:spPr>
          <a:xfrm>
            <a:off x="457200" y="3264480"/>
            <a:ext cx="38858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1B2A4A"/>
                </a:solidFill>
                <a:effectLst/>
                <a:uFillTx/>
                <a:latin typeface="Calibri"/>
                <a:ea typeface="Calibri"/>
              </a:rPr>
              <a:t>Coaches Tab</a:t>
            </a:r>
            <a:endParaRPr lang="en-CA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Shape 22"/>
          <p:cNvSpPr/>
          <p:nvPr/>
        </p:nvSpPr>
        <p:spPr>
          <a:xfrm>
            <a:off x="429840" y="3511440"/>
            <a:ext cx="3913200" cy="1279800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CA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23"/>
          <p:cNvSpPr/>
          <p:nvPr/>
        </p:nvSpPr>
        <p:spPr>
          <a:xfrm>
            <a:off x="484560" y="3547800"/>
            <a:ext cx="3803400" cy="120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8ABFE8"/>
                </a:solidFill>
                <a:effectLst/>
                <a:uFillTx/>
                <a:latin typeface="Consolas"/>
                <a:ea typeface="Consolas"/>
              </a:rPr>
              <a:t>-- My Coaches</a:t>
            </a:r>
            <a:endParaRPr lang="en-CA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8ABFE8"/>
                </a:solidFill>
                <a:effectLst/>
                <a:uFillTx/>
                <a:latin typeface="Consolas"/>
                <a:ea typeface="Consolas"/>
              </a:rPr>
              <a:t>SELECT c.firstName, c.lastName,</a:t>
            </a:r>
            <a:endParaRPr lang="en-CA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8ABFE8"/>
                </a:solidFill>
                <a:effectLst/>
                <a:uFillTx/>
                <a:latin typeface="Consolas"/>
                <a:ea typeface="Consolas"/>
              </a:rPr>
              <a:t>       c.level, c.avgRating</a:t>
            </a:r>
            <a:endParaRPr lang="en-CA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8ABFE8"/>
                </a:solidFill>
                <a:effectLst/>
                <a:uFillTx/>
                <a:latin typeface="Consolas"/>
                <a:ea typeface="Consolas"/>
              </a:rPr>
              <a:t>FROM Coach c</a:t>
            </a:r>
            <a:endParaRPr lang="en-CA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8ABFE8"/>
                </a:solidFill>
                <a:effectLst/>
                <a:uFillTx/>
                <a:latin typeface="Consolas"/>
                <a:ea typeface="Consolas"/>
              </a:rPr>
              <a:t>JOIN Member_Coach mc</a:t>
            </a:r>
            <a:endParaRPr lang="en-CA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8ABFE8"/>
                </a:solidFill>
                <a:effectLst/>
                <a:uFillTx/>
                <a:latin typeface="Consolas"/>
                <a:ea typeface="Consolas"/>
              </a:rPr>
              <a:t>  ON mc.coachID = c.coachID</a:t>
            </a:r>
            <a:endParaRPr lang="en-CA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8ABFE8"/>
                </a:solidFill>
                <a:effectLst/>
                <a:uFillTx/>
                <a:latin typeface="Consolas"/>
                <a:ea typeface="Consolas"/>
              </a:rPr>
              <a:t>WHERE mc.memberID = 1;</a:t>
            </a:r>
            <a:endParaRPr lang="en-CA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CA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8ABFE8"/>
                </a:solidFill>
                <a:effectLst/>
                <a:uFillTx/>
                <a:latin typeface="Consolas"/>
                <a:ea typeface="Consolas"/>
              </a:rPr>
              <a:t>-- All Coaches</a:t>
            </a:r>
            <a:endParaRPr lang="en-CA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8ABFE8"/>
                </a:solidFill>
                <a:effectLst/>
                <a:uFillTx/>
                <a:latin typeface="Consolas"/>
                <a:ea typeface="Consolas"/>
              </a:rPr>
              <a:t>SELECT firstName, lastName,</a:t>
            </a:r>
            <a:endParaRPr lang="en-CA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8ABFE8"/>
                </a:solidFill>
                <a:effectLst/>
                <a:uFillTx/>
                <a:latin typeface="Consolas"/>
                <a:ea typeface="Consolas"/>
              </a:rPr>
              <a:t>       level, avgRating FROM Coach;</a:t>
            </a:r>
            <a:endParaRPr lang="en-CA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Shape 24"/>
          <p:cNvSpPr/>
          <p:nvPr/>
        </p:nvSpPr>
        <p:spPr>
          <a:xfrm>
            <a:off x="4663440" y="3017520"/>
            <a:ext cx="4205880" cy="1874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F"/>
            </a:solidFill>
            <a:round/>
          </a:ln>
          <a:effectLst>
            <a:outerShdw algn="bl" blurRad="50760" dir="8100000" dist="12218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Shape 25"/>
          <p:cNvSpPr/>
          <p:nvPr/>
        </p:nvSpPr>
        <p:spPr>
          <a:xfrm>
            <a:off x="4663440" y="3017520"/>
            <a:ext cx="145800" cy="1874160"/>
          </a:xfrm>
          <a:prstGeom prst="rect">
            <a:avLst/>
          </a:prstGeom>
          <a:solidFill>
            <a:srgbClr val="1A7A8A"/>
          </a:solidFill>
          <a:ln w="12700">
            <a:solidFill>
              <a:srgbClr val="1A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CA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26"/>
          <p:cNvSpPr/>
          <p:nvPr/>
        </p:nvSpPr>
        <p:spPr>
          <a:xfrm>
            <a:off x="4892040" y="3081600"/>
            <a:ext cx="38858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1A7A8A"/>
                </a:solidFill>
                <a:effectLst/>
                <a:uFillTx/>
                <a:latin typeface="Calibri"/>
                <a:ea typeface="Calibri"/>
              </a:rPr>
              <a:t>Wireframe 4</a:t>
            </a:r>
            <a:endParaRPr lang="en-CA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27"/>
          <p:cNvSpPr/>
          <p:nvPr/>
        </p:nvSpPr>
        <p:spPr>
          <a:xfrm>
            <a:off x="4892040" y="3264480"/>
            <a:ext cx="38858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1B2A4A"/>
                </a:solidFill>
                <a:effectLst/>
                <a:uFillTx/>
                <a:latin typeface="Calibri"/>
                <a:ea typeface="Calibri"/>
              </a:rPr>
              <a:t>Coach Profile Tab</a:t>
            </a:r>
            <a:endParaRPr lang="en-CA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Shape 28"/>
          <p:cNvSpPr/>
          <p:nvPr/>
        </p:nvSpPr>
        <p:spPr>
          <a:xfrm>
            <a:off x="4864680" y="3511440"/>
            <a:ext cx="3913200" cy="1279800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CA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29"/>
          <p:cNvSpPr/>
          <p:nvPr/>
        </p:nvSpPr>
        <p:spPr>
          <a:xfrm>
            <a:off x="4919400" y="3547800"/>
            <a:ext cx="3803400" cy="120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8ABFE8"/>
                </a:solidFill>
                <a:effectLst/>
                <a:uFillTx/>
                <a:latin typeface="Consolas"/>
                <a:ea typeface="Consolas"/>
              </a:rPr>
              <a:t>SELECT firstName, lastName, level,</a:t>
            </a:r>
            <a:endParaRPr lang="en-CA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8ABFE8"/>
                </a:solidFill>
                <a:effectLst/>
                <a:uFillTx/>
                <a:latin typeface="Consolas"/>
                <a:ea typeface="Consolas"/>
              </a:rPr>
              <a:t>  avgRating, trainingPhilosophy</a:t>
            </a:r>
            <a:endParaRPr lang="en-CA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8ABFE8"/>
                </a:solidFill>
                <a:effectLst/>
                <a:uFillTx/>
                <a:latin typeface="Consolas"/>
                <a:ea typeface="Consolas"/>
              </a:rPr>
              <a:t>FROM Coach WHERE coachID = 1;</a:t>
            </a:r>
            <a:endParaRPr lang="en-CA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CA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8ABFE8"/>
                </a:solidFill>
                <a:effectLst/>
                <a:uFillTx/>
                <a:latin typeface="Consolas"/>
                <a:ea typeface="Consolas"/>
              </a:rPr>
              <a:t>SELECT cert.certName</a:t>
            </a:r>
            <a:endParaRPr lang="en-CA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8ABFE8"/>
                </a:solidFill>
                <a:effectLst/>
                <a:uFillTx/>
                <a:latin typeface="Consolas"/>
                <a:ea typeface="Consolas"/>
              </a:rPr>
              <a:t>FROM Certificate cert</a:t>
            </a:r>
            <a:endParaRPr lang="en-CA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8ABFE8"/>
                </a:solidFill>
                <a:effectLst/>
                <a:uFillTx/>
                <a:latin typeface="Consolas"/>
                <a:ea typeface="Consolas"/>
              </a:rPr>
              <a:t>JOIN Coach_Certificate cc</a:t>
            </a:r>
            <a:endParaRPr lang="en-CA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8ABFE8"/>
                </a:solidFill>
                <a:effectLst/>
                <a:uFillTx/>
                <a:latin typeface="Consolas"/>
                <a:ea typeface="Consolas"/>
              </a:rPr>
              <a:t>  ON cc.certID = cert.certID</a:t>
            </a:r>
            <a:endParaRPr lang="en-CA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8ABFE8"/>
                </a:solidFill>
                <a:effectLst/>
                <a:uFillTx/>
                <a:latin typeface="Consolas"/>
                <a:ea typeface="Consolas"/>
              </a:rPr>
              <a:t>WHERE cc.coachID = 1;</a:t>
            </a:r>
            <a:endParaRPr lang="en-CA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Shape 0"/>
          <p:cNvSpPr/>
          <p:nvPr/>
        </p:nvSpPr>
        <p:spPr>
          <a:xfrm>
            <a:off x="0" y="0"/>
            <a:ext cx="273960" cy="5143320"/>
          </a:xfrm>
          <a:prstGeom prst="rect">
            <a:avLst/>
          </a:prstGeom>
          <a:solidFill>
            <a:srgbClr val="1A7A8A"/>
          </a:solidFill>
          <a:ln w="12700">
            <a:solidFill>
              <a:srgbClr val="1A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CA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" name="Shape 1"/>
          <p:cNvSpPr/>
          <p:nvPr/>
        </p:nvSpPr>
        <p:spPr>
          <a:xfrm>
            <a:off x="0" y="4663440"/>
            <a:ext cx="9143640" cy="475200"/>
          </a:xfrm>
          <a:prstGeom prst="rect">
            <a:avLst/>
          </a:prstGeom>
          <a:solidFill>
            <a:srgbClr val="1A7A8A"/>
          </a:solidFill>
          <a:ln w="12700">
            <a:solidFill>
              <a:srgbClr val="1A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CA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2"/>
          <p:cNvSpPr/>
          <p:nvPr/>
        </p:nvSpPr>
        <p:spPr>
          <a:xfrm>
            <a:off x="548640" y="32004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Summary</a:t>
            </a:r>
            <a:endParaRPr lang="en-CA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3"/>
          <p:cNvSpPr/>
          <p:nvPr/>
        </p:nvSpPr>
        <p:spPr>
          <a:xfrm>
            <a:off x="548640" y="822960"/>
            <a:ext cx="82292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2A9BAD"/>
                </a:solidFill>
                <a:effectLst/>
                <a:uFillTx/>
                <a:latin typeface="Calibri"/>
                <a:ea typeface="Calibri"/>
              </a:rPr>
              <a:t>What we built, what we learned.</a:t>
            </a:r>
            <a:endParaRPr lang="en-CA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" name="Shape 4"/>
          <p:cNvSpPr/>
          <p:nvPr/>
        </p:nvSpPr>
        <p:spPr>
          <a:xfrm>
            <a:off x="502920" y="1325880"/>
            <a:ext cx="1965600" cy="3108600"/>
          </a:xfrm>
          <a:prstGeom prst="rect">
            <a:avLst/>
          </a:prstGeom>
          <a:solidFill>
            <a:srgbClr val="162236"/>
          </a:solidFill>
          <a:ln w="12700">
            <a:solidFill>
              <a:srgbClr val="1A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CA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" name="Shape 5"/>
          <p:cNvSpPr/>
          <p:nvPr/>
        </p:nvSpPr>
        <p:spPr>
          <a:xfrm>
            <a:off x="502920" y="1325880"/>
            <a:ext cx="1965600" cy="72720"/>
          </a:xfrm>
          <a:prstGeom prst="rect">
            <a:avLst/>
          </a:prstGeom>
          <a:solidFill>
            <a:srgbClr val="1A7A8A"/>
          </a:solidFill>
          <a:ln w="12700">
            <a:solidFill>
              <a:srgbClr val="1A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8080" rIns="90000" bIns="28080" anchor="t">
            <a:noAutofit/>
          </a:bodyPr>
          <a:p>
            <a:endParaRPr lang="en-CA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6"/>
          <p:cNvSpPr/>
          <p:nvPr/>
        </p:nvSpPr>
        <p:spPr>
          <a:xfrm>
            <a:off x="502920" y="1463040"/>
            <a:ext cx="19656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0A500"/>
                </a:solidFill>
                <a:effectLst/>
                <a:uFillTx/>
                <a:latin typeface="Calibri"/>
                <a:ea typeface="Calibri"/>
              </a:rPr>
              <a:t>01</a:t>
            </a:r>
            <a:endParaRPr lang="en-CA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7"/>
          <p:cNvSpPr/>
          <p:nvPr/>
        </p:nvSpPr>
        <p:spPr>
          <a:xfrm>
            <a:off x="594360" y="1901880"/>
            <a:ext cx="1782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EER Diagram</a:t>
            </a:r>
            <a:endParaRPr lang="en-CA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8"/>
          <p:cNvSpPr/>
          <p:nvPr/>
        </p:nvSpPr>
        <p:spPr>
          <a:xfrm>
            <a:off x="594360" y="2267640"/>
            <a:ext cx="1782720" cy="191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8A9BB0"/>
                </a:solidFill>
                <a:effectLst/>
                <a:uFillTx/>
                <a:latin typeface="Calibri"/>
                <a:ea typeface="Calibri"/>
              </a:rPr>
              <a:t>Identified 8 strong entities and 2 weak entities from wireframe analysis. Relationships and cardinalities documented.</a:t>
            </a:r>
            <a:endParaRPr lang="en-CA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" name="Shape 9"/>
          <p:cNvSpPr/>
          <p:nvPr/>
        </p:nvSpPr>
        <p:spPr>
          <a:xfrm>
            <a:off x="2651760" y="1325880"/>
            <a:ext cx="1965600" cy="3108600"/>
          </a:xfrm>
          <a:prstGeom prst="rect">
            <a:avLst/>
          </a:prstGeom>
          <a:solidFill>
            <a:srgbClr val="162236"/>
          </a:solidFill>
          <a:ln w="12700">
            <a:solidFill>
              <a:srgbClr val="1A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CA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" name="Shape 10"/>
          <p:cNvSpPr/>
          <p:nvPr/>
        </p:nvSpPr>
        <p:spPr>
          <a:xfrm>
            <a:off x="2651760" y="1325880"/>
            <a:ext cx="1965600" cy="72720"/>
          </a:xfrm>
          <a:prstGeom prst="rect">
            <a:avLst/>
          </a:prstGeom>
          <a:solidFill>
            <a:srgbClr val="1A7A8A"/>
          </a:solidFill>
          <a:ln w="12700">
            <a:solidFill>
              <a:srgbClr val="1A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8080" rIns="90000" bIns="28080" anchor="t">
            <a:noAutofit/>
          </a:bodyPr>
          <a:p>
            <a:endParaRPr lang="en-CA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11"/>
          <p:cNvSpPr/>
          <p:nvPr/>
        </p:nvSpPr>
        <p:spPr>
          <a:xfrm>
            <a:off x="2651760" y="1463040"/>
            <a:ext cx="19656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0A500"/>
                </a:solidFill>
                <a:effectLst/>
                <a:uFillTx/>
                <a:latin typeface="Calibri"/>
                <a:ea typeface="Calibri"/>
              </a:rPr>
              <a:t>02</a:t>
            </a:r>
            <a:endParaRPr lang="en-CA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12"/>
          <p:cNvSpPr/>
          <p:nvPr/>
        </p:nvSpPr>
        <p:spPr>
          <a:xfrm>
            <a:off x="2743200" y="1901880"/>
            <a:ext cx="1782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Relational Model</a:t>
            </a:r>
            <a:endParaRPr lang="en-CA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 13"/>
          <p:cNvSpPr/>
          <p:nvPr/>
        </p:nvSpPr>
        <p:spPr>
          <a:xfrm>
            <a:off x="2743200" y="2267640"/>
            <a:ext cx="1782720" cy="191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8A9BB0"/>
                </a:solidFill>
                <a:effectLst/>
                <a:uFillTx/>
                <a:latin typeface="Calibri"/>
                <a:ea typeface="Calibri"/>
              </a:rPr>
              <a:t>Converted all entities to 14 normalized tables. All tables verified to be in Third Normal Form.</a:t>
            </a:r>
            <a:endParaRPr lang="en-CA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" name="Shape 14"/>
          <p:cNvSpPr/>
          <p:nvPr/>
        </p:nvSpPr>
        <p:spPr>
          <a:xfrm>
            <a:off x="4800600" y="1325880"/>
            <a:ext cx="1965600" cy="3108600"/>
          </a:xfrm>
          <a:prstGeom prst="rect">
            <a:avLst/>
          </a:prstGeom>
          <a:solidFill>
            <a:srgbClr val="162236"/>
          </a:solidFill>
          <a:ln w="12700">
            <a:solidFill>
              <a:srgbClr val="1A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CA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" name="Shape 15"/>
          <p:cNvSpPr/>
          <p:nvPr/>
        </p:nvSpPr>
        <p:spPr>
          <a:xfrm>
            <a:off x="4800600" y="1325880"/>
            <a:ext cx="1965600" cy="72720"/>
          </a:xfrm>
          <a:prstGeom prst="rect">
            <a:avLst/>
          </a:prstGeom>
          <a:solidFill>
            <a:srgbClr val="1A7A8A"/>
          </a:solidFill>
          <a:ln w="12700">
            <a:solidFill>
              <a:srgbClr val="1A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8080" rIns="90000" bIns="28080" anchor="t">
            <a:noAutofit/>
          </a:bodyPr>
          <a:p>
            <a:endParaRPr lang="en-CA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16"/>
          <p:cNvSpPr/>
          <p:nvPr/>
        </p:nvSpPr>
        <p:spPr>
          <a:xfrm>
            <a:off x="4800600" y="1463040"/>
            <a:ext cx="19656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0A500"/>
                </a:solidFill>
                <a:effectLst/>
                <a:uFillTx/>
                <a:latin typeface="Calibri"/>
                <a:ea typeface="Calibri"/>
              </a:rPr>
              <a:t>03</a:t>
            </a:r>
            <a:endParaRPr lang="en-CA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17"/>
          <p:cNvSpPr/>
          <p:nvPr/>
        </p:nvSpPr>
        <p:spPr>
          <a:xfrm>
            <a:off x="4892040" y="1901880"/>
            <a:ext cx="1782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SQL Implementation</a:t>
            </a:r>
            <a:endParaRPr lang="en-CA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18"/>
          <p:cNvSpPr/>
          <p:nvPr/>
        </p:nvSpPr>
        <p:spPr>
          <a:xfrm>
            <a:off x="4892040" y="2267640"/>
            <a:ext cx="1782720" cy="191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8A9BB0"/>
                </a:solidFill>
                <a:effectLst/>
                <a:uFillTx/>
                <a:latin typeface="Calibri"/>
                <a:ea typeface="Calibri"/>
              </a:rPr>
              <a:t>CREATE TABLE and INSERT scripts written for all 14 tables. Referential integrity enforced via foreign keys.</a:t>
            </a:r>
            <a:endParaRPr lang="en-CA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" name="Shape 19"/>
          <p:cNvSpPr/>
          <p:nvPr/>
        </p:nvSpPr>
        <p:spPr>
          <a:xfrm>
            <a:off x="6949440" y="1325880"/>
            <a:ext cx="1965600" cy="3108600"/>
          </a:xfrm>
          <a:prstGeom prst="rect">
            <a:avLst/>
          </a:prstGeom>
          <a:solidFill>
            <a:srgbClr val="162236"/>
          </a:solidFill>
          <a:ln w="12700">
            <a:solidFill>
              <a:srgbClr val="1A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CA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" name="Shape 20"/>
          <p:cNvSpPr/>
          <p:nvPr/>
        </p:nvSpPr>
        <p:spPr>
          <a:xfrm>
            <a:off x="6949440" y="1325880"/>
            <a:ext cx="1965600" cy="72720"/>
          </a:xfrm>
          <a:prstGeom prst="rect">
            <a:avLst/>
          </a:prstGeom>
          <a:solidFill>
            <a:srgbClr val="1A7A8A"/>
          </a:solidFill>
          <a:ln w="12700">
            <a:solidFill>
              <a:srgbClr val="1A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8080" rIns="90000" bIns="28080" anchor="t">
            <a:noAutofit/>
          </a:bodyPr>
          <a:p>
            <a:endParaRPr lang="en-CA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21"/>
          <p:cNvSpPr/>
          <p:nvPr/>
        </p:nvSpPr>
        <p:spPr>
          <a:xfrm>
            <a:off x="6949440" y="1463040"/>
            <a:ext cx="19656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0A500"/>
                </a:solidFill>
                <a:effectLst/>
                <a:uFillTx/>
                <a:latin typeface="Calibri"/>
                <a:ea typeface="Calibri"/>
              </a:rPr>
              <a:t>04</a:t>
            </a:r>
            <a:endParaRPr lang="en-CA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22"/>
          <p:cNvSpPr/>
          <p:nvPr/>
        </p:nvSpPr>
        <p:spPr>
          <a:xfrm>
            <a:off x="7040880" y="1901880"/>
            <a:ext cx="1782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MongoDB &amp; Queries</a:t>
            </a:r>
            <a:endParaRPr lang="en-CA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 23"/>
          <p:cNvSpPr/>
          <p:nvPr/>
        </p:nvSpPr>
        <p:spPr>
          <a:xfrm>
            <a:off x="7040880" y="2267640"/>
            <a:ext cx="1782720" cy="191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8A9BB0"/>
                </a:solidFill>
                <a:effectLst/>
                <a:uFillTx/>
                <a:latin typeface="Calibri"/>
                <a:ea typeface="Calibri"/>
              </a:rPr>
              <a:t>Locations and Coaches modelled as flexible documents. SELECT queries cover all 4 wireframe screens.</a:t>
            </a:r>
            <a:endParaRPr lang="en-CA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24"/>
          <p:cNvSpPr/>
          <p:nvPr/>
        </p:nvSpPr>
        <p:spPr>
          <a:xfrm>
            <a:off x="320040" y="4663440"/>
            <a:ext cx="850356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Thank You — Questions Welcome</a:t>
            </a:r>
            <a:endParaRPr lang="en-CA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LibreOffice/26.2.0.3$Windows_X86_64 LibreOffice_project/620$Build-3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2026-04-07T02:47:26Z</dcterms:created>
  <dc:creator>PptxGenJS</dc:creator>
  <dc:description/>
  <dc:language>en-CA</dc:language>
  <cp:lastModifiedBy/>
  <dcterms:modified xsi:type="dcterms:W3CDTF">2026-04-06T22:55:28Z</dcterms:modified>
  <cp:revision>2</cp:revision>
  <dc:subject>PptxGenJS Presentation</dc:subject>
  <dc:title>Database Design and Implementation for a Fitness Center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10</vt:i4>
  </property>
  <property fmtid="{D5CDD505-2E9C-101B-9397-08002B2CF9AE}" pid="3" name="PresentationFormat">
    <vt:lpwstr>On-screen Show (16:9)</vt:lpwstr>
  </property>
  <property fmtid="{D5CDD505-2E9C-101B-9397-08002B2CF9AE}" pid="4" name="Slides">
    <vt:i4>10</vt:i4>
  </property>
</Properties>
</file>