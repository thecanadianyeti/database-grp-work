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Montserrat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50e23909f_3_4:notes"/>
          <p:cNvSpPr/>
          <p:nvPr>
            <p:ph idx="2" type="sldImg"/>
          </p:nvPr>
        </p:nvSpPr>
        <p:spPr>
          <a:xfrm>
            <a:off x="914400" y="1143000"/>
            <a:ext cx="731472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g3d50e23909f_3_4:notes"/>
          <p:cNvSpPr txBox="1"/>
          <p:nvPr>
            <p:ph idx="1" type="body"/>
          </p:nvPr>
        </p:nvSpPr>
        <p:spPr>
          <a:xfrm>
            <a:off x="914400" y="4400640"/>
            <a:ext cx="73147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d50e23909f_3_4:notes"/>
          <p:cNvSpPr txBox="1"/>
          <p:nvPr>
            <p:ph idx="12" type="sldNum"/>
          </p:nvPr>
        </p:nvSpPr>
        <p:spPr>
          <a:xfrm>
            <a:off x="5179680" y="8685360"/>
            <a:ext cx="396192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6e66c88e9_2_0:notes"/>
          <p:cNvSpPr/>
          <p:nvPr>
            <p:ph idx="2" type="sldImg"/>
          </p:nvPr>
        </p:nvSpPr>
        <p:spPr>
          <a:xfrm>
            <a:off x="914400" y="1143000"/>
            <a:ext cx="731472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g386e66c88e9_2_0:notes"/>
          <p:cNvSpPr txBox="1"/>
          <p:nvPr>
            <p:ph idx="1" type="body"/>
          </p:nvPr>
        </p:nvSpPr>
        <p:spPr>
          <a:xfrm>
            <a:off x="914400" y="4400640"/>
            <a:ext cx="73147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86e66c88e9_2_0:notes"/>
          <p:cNvSpPr txBox="1"/>
          <p:nvPr>
            <p:ph idx="12" type="sldNum"/>
          </p:nvPr>
        </p:nvSpPr>
        <p:spPr>
          <a:xfrm>
            <a:off x="5179680" y="8685360"/>
            <a:ext cx="396192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50e23909f_4_39:notes"/>
          <p:cNvSpPr/>
          <p:nvPr>
            <p:ph idx="2" type="sldImg"/>
          </p:nvPr>
        </p:nvSpPr>
        <p:spPr>
          <a:xfrm>
            <a:off x="914400" y="1143000"/>
            <a:ext cx="7314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g3d50e23909f_4_39:notes"/>
          <p:cNvSpPr txBox="1"/>
          <p:nvPr>
            <p:ph idx="1" type="body"/>
          </p:nvPr>
        </p:nvSpPr>
        <p:spPr>
          <a:xfrm>
            <a:off x="914400" y="4400640"/>
            <a:ext cx="73149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d50e23909f_4_39:notes"/>
          <p:cNvSpPr txBox="1"/>
          <p:nvPr>
            <p:ph idx="12" type="sldNum"/>
          </p:nvPr>
        </p:nvSpPr>
        <p:spPr>
          <a:xfrm>
            <a:off x="5179680" y="8685360"/>
            <a:ext cx="3962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6ebcf1b18_1_0:notes"/>
          <p:cNvSpPr/>
          <p:nvPr>
            <p:ph idx="2" type="sldImg"/>
          </p:nvPr>
        </p:nvSpPr>
        <p:spPr>
          <a:xfrm>
            <a:off x="914400" y="1143000"/>
            <a:ext cx="731472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g386ebcf1b18_1_0:notes"/>
          <p:cNvSpPr txBox="1"/>
          <p:nvPr>
            <p:ph idx="1" type="body"/>
          </p:nvPr>
        </p:nvSpPr>
        <p:spPr>
          <a:xfrm>
            <a:off x="914400" y="4400640"/>
            <a:ext cx="73147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86ebcf1b18_1_0:notes"/>
          <p:cNvSpPr txBox="1"/>
          <p:nvPr>
            <p:ph idx="12" type="sldNum"/>
          </p:nvPr>
        </p:nvSpPr>
        <p:spPr>
          <a:xfrm>
            <a:off x="5179680" y="8685360"/>
            <a:ext cx="396192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50e23909f_3_91:notes"/>
          <p:cNvSpPr/>
          <p:nvPr>
            <p:ph idx="2" type="sldImg"/>
          </p:nvPr>
        </p:nvSpPr>
        <p:spPr>
          <a:xfrm>
            <a:off x="914400" y="1143000"/>
            <a:ext cx="731472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g3d50e23909f_3_91:notes"/>
          <p:cNvSpPr txBox="1"/>
          <p:nvPr>
            <p:ph idx="1" type="body"/>
          </p:nvPr>
        </p:nvSpPr>
        <p:spPr>
          <a:xfrm>
            <a:off x="914400" y="4400640"/>
            <a:ext cx="73147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d50e23909f_3_91:notes"/>
          <p:cNvSpPr txBox="1"/>
          <p:nvPr>
            <p:ph idx="12" type="sldNum"/>
          </p:nvPr>
        </p:nvSpPr>
        <p:spPr>
          <a:xfrm>
            <a:off x="5179680" y="8685360"/>
            <a:ext cx="396192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50e23909f_3_104:notes"/>
          <p:cNvSpPr/>
          <p:nvPr>
            <p:ph idx="2" type="sldImg"/>
          </p:nvPr>
        </p:nvSpPr>
        <p:spPr>
          <a:xfrm>
            <a:off x="914400" y="1143000"/>
            <a:ext cx="731472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g3d50e23909f_3_104:notes"/>
          <p:cNvSpPr txBox="1"/>
          <p:nvPr>
            <p:ph idx="1" type="body"/>
          </p:nvPr>
        </p:nvSpPr>
        <p:spPr>
          <a:xfrm>
            <a:off x="914400" y="4400640"/>
            <a:ext cx="73147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d50e23909f_3_104:notes"/>
          <p:cNvSpPr txBox="1"/>
          <p:nvPr>
            <p:ph idx="12" type="sldNum"/>
          </p:nvPr>
        </p:nvSpPr>
        <p:spPr>
          <a:xfrm>
            <a:off x="5179680" y="8685360"/>
            <a:ext cx="396192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50e23909f_3_122:notes"/>
          <p:cNvSpPr/>
          <p:nvPr>
            <p:ph idx="2" type="sldImg"/>
          </p:nvPr>
        </p:nvSpPr>
        <p:spPr>
          <a:xfrm>
            <a:off x="914400" y="1143000"/>
            <a:ext cx="731472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g3d50e23909f_3_122:notes"/>
          <p:cNvSpPr txBox="1"/>
          <p:nvPr>
            <p:ph idx="1" type="body"/>
          </p:nvPr>
        </p:nvSpPr>
        <p:spPr>
          <a:xfrm>
            <a:off x="914400" y="4400640"/>
            <a:ext cx="73147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d50e23909f_3_122:notes"/>
          <p:cNvSpPr txBox="1"/>
          <p:nvPr>
            <p:ph idx="12" type="sldNum"/>
          </p:nvPr>
        </p:nvSpPr>
        <p:spPr>
          <a:xfrm>
            <a:off x="5179680" y="8685360"/>
            <a:ext cx="396192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50e23909f_3_138:notes"/>
          <p:cNvSpPr/>
          <p:nvPr>
            <p:ph idx="2" type="sldImg"/>
          </p:nvPr>
        </p:nvSpPr>
        <p:spPr>
          <a:xfrm>
            <a:off x="914400" y="1143000"/>
            <a:ext cx="731472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d50e23909f_3_138:notes"/>
          <p:cNvSpPr txBox="1"/>
          <p:nvPr>
            <p:ph idx="1" type="body"/>
          </p:nvPr>
        </p:nvSpPr>
        <p:spPr>
          <a:xfrm>
            <a:off x="914400" y="4400640"/>
            <a:ext cx="73147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d50e23909f_3_138:notes"/>
          <p:cNvSpPr txBox="1"/>
          <p:nvPr>
            <p:ph idx="12" type="sldNum"/>
          </p:nvPr>
        </p:nvSpPr>
        <p:spPr>
          <a:xfrm>
            <a:off x="5179680" y="8685360"/>
            <a:ext cx="396192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50e23909f_3_152:notes"/>
          <p:cNvSpPr/>
          <p:nvPr>
            <p:ph idx="2" type="sldImg"/>
          </p:nvPr>
        </p:nvSpPr>
        <p:spPr>
          <a:xfrm>
            <a:off x="914400" y="1143000"/>
            <a:ext cx="731472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g3d50e23909f_3_152:notes"/>
          <p:cNvSpPr txBox="1"/>
          <p:nvPr>
            <p:ph idx="1" type="body"/>
          </p:nvPr>
        </p:nvSpPr>
        <p:spPr>
          <a:xfrm>
            <a:off x="914400" y="4400640"/>
            <a:ext cx="73147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d50e23909f_3_152:notes"/>
          <p:cNvSpPr txBox="1"/>
          <p:nvPr>
            <p:ph idx="12" type="sldNum"/>
          </p:nvPr>
        </p:nvSpPr>
        <p:spPr>
          <a:xfrm>
            <a:off x="5179680" y="8685360"/>
            <a:ext cx="396192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50e23909f_3_167:notes"/>
          <p:cNvSpPr/>
          <p:nvPr>
            <p:ph idx="2" type="sldImg"/>
          </p:nvPr>
        </p:nvSpPr>
        <p:spPr>
          <a:xfrm>
            <a:off x="914400" y="1143000"/>
            <a:ext cx="731472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g3d50e23909f_3_167:notes"/>
          <p:cNvSpPr txBox="1"/>
          <p:nvPr>
            <p:ph idx="1" type="body"/>
          </p:nvPr>
        </p:nvSpPr>
        <p:spPr>
          <a:xfrm>
            <a:off x="914400" y="4400640"/>
            <a:ext cx="73147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d50e23909f_3_167:notes"/>
          <p:cNvSpPr txBox="1"/>
          <p:nvPr>
            <p:ph idx="12" type="sldNum"/>
          </p:nvPr>
        </p:nvSpPr>
        <p:spPr>
          <a:xfrm>
            <a:off x="5179680" y="8685360"/>
            <a:ext cx="396192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6e66c88e9_2_15:notes"/>
          <p:cNvSpPr/>
          <p:nvPr>
            <p:ph idx="2" type="sldImg"/>
          </p:nvPr>
        </p:nvSpPr>
        <p:spPr>
          <a:xfrm>
            <a:off x="914400" y="1143000"/>
            <a:ext cx="731472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g386e66c88e9_2_15:notes"/>
          <p:cNvSpPr txBox="1"/>
          <p:nvPr>
            <p:ph idx="1" type="body"/>
          </p:nvPr>
        </p:nvSpPr>
        <p:spPr>
          <a:xfrm>
            <a:off x="914400" y="4400640"/>
            <a:ext cx="73147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86e66c88e9_2_15:notes"/>
          <p:cNvSpPr txBox="1"/>
          <p:nvPr>
            <p:ph idx="12" type="sldNum"/>
          </p:nvPr>
        </p:nvSpPr>
        <p:spPr>
          <a:xfrm>
            <a:off x="5179680" y="8685360"/>
            <a:ext cx="396192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/>
        </p:nvSpPr>
        <p:spPr>
          <a:xfrm>
            <a:off x="0" y="4663440"/>
            <a:ext cx="9143640" cy="47520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0" y="0"/>
            <a:ext cx="273960" cy="5143320"/>
          </a:xfrm>
          <a:prstGeom prst="rect">
            <a:avLst/>
          </a:prstGeom>
          <a:solidFill>
            <a:srgbClr val="2A9BAD"/>
          </a:solidFill>
          <a:ln cap="flat" cmpd="sng" w="12700">
            <a:solidFill>
              <a:srgbClr val="2A9B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48640" y="640080"/>
            <a:ext cx="8229240" cy="164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Design &amp;</a:t>
            </a:r>
            <a:endParaRPr b="0" sz="4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sz="4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48640" y="2240280"/>
            <a:ext cx="822924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 u="none" strike="noStrike">
                <a:solidFill>
                  <a:srgbClr val="2A9BAD"/>
                </a:solidFill>
                <a:latin typeface="Calibri"/>
                <a:ea typeface="Calibri"/>
                <a:cs typeface="Calibri"/>
                <a:sym typeface="Calibri"/>
              </a:rPr>
              <a:t>for a Fitness Center</a:t>
            </a:r>
            <a:endParaRPr b="0" sz="2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15"/>
          <p:cNvCxnSpPr/>
          <p:nvPr/>
        </p:nvCxnSpPr>
        <p:spPr>
          <a:xfrm>
            <a:off x="548640" y="2944080"/>
            <a:ext cx="5029200" cy="360"/>
          </a:xfrm>
          <a:prstGeom prst="straightConnector1">
            <a:avLst/>
          </a:prstGeom>
          <a:noFill/>
          <a:ln cap="flat" cmpd="sng" w="12700">
            <a:solidFill>
              <a:srgbClr val="8A9B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5"/>
          <p:cNvSpPr/>
          <p:nvPr/>
        </p:nvSpPr>
        <p:spPr>
          <a:xfrm>
            <a:off x="548640" y="3063240"/>
            <a:ext cx="64004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 u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Database Design &amp; Implementation — Group Project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48640" y="3383280"/>
            <a:ext cx="64004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 u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Week 13 Presentation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320040" y="4663440"/>
            <a:ext cx="850356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by: Marcus Podnar and Nickolas Gabrialovitch</a:t>
            </a:r>
            <a:endParaRPr b="0" sz="1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274320" y="960120"/>
            <a:ext cx="4160000" cy="880000"/>
          </a:xfrm>
          <a:prstGeom prst="rect">
            <a:avLst/>
          </a:prstGeom>
          <a:solidFill>
            <a:srgbClr val="FFFFFF"/>
          </a:solidFill>
          <a:ln cap="flat" cmpd="sng" w="180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12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Objective and scope of the fitness center database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274320" y="1880120"/>
            <a:ext cx="4160000" cy="880000"/>
          </a:xfrm>
          <a:prstGeom prst="rect">
            <a:avLst/>
          </a:prstGeom>
          <a:solidFill>
            <a:srgbClr val="FFFFFF"/>
          </a:solidFill>
          <a:ln cap="flat" cmpd="sng" w="180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12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Conceptual Model (EER Diagram)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Entities, attributes, and relationships</a:t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274320" y="2800120"/>
            <a:ext cx="4160000" cy="880000"/>
          </a:xfrm>
          <a:prstGeom prst="rect">
            <a:avLst/>
          </a:prstGeom>
          <a:solidFill>
            <a:srgbClr val="FFFFFF"/>
          </a:solidFill>
          <a:ln cap="flat" cmpd="sng" w="180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12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Relational Model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Logical data model and normalization to 3NF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274320" y="3720120"/>
            <a:ext cx="4160000" cy="880000"/>
          </a:xfrm>
          <a:prstGeom prst="rect">
            <a:avLst/>
          </a:prstGeom>
          <a:solidFill>
            <a:srgbClr val="FFFFFF"/>
          </a:solidFill>
          <a:ln cap="flat" cmpd="sng" w="180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12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SQL: Create &amp; Insert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Table creation scripts and sample data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4709640" y="960120"/>
            <a:ext cx="4160000" cy="880000"/>
          </a:xfrm>
          <a:prstGeom prst="rect">
            <a:avLst/>
          </a:prstGeom>
          <a:solidFill>
            <a:srgbClr val="FFFFFF"/>
          </a:solidFill>
          <a:ln cap="flat" cmpd="sng" w="180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12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MongoDB Collections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NoSQL implementation for Locations and Coaches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4709640" y="1880120"/>
            <a:ext cx="4160000" cy="880000"/>
          </a:xfrm>
          <a:prstGeom prst="rect">
            <a:avLst/>
          </a:prstGeom>
          <a:solidFill>
            <a:srgbClr val="FFFFFF"/>
          </a:solidFill>
          <a:ln cap="flat" cmpd="sng" w="180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12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SQL SELECT Statements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Queries mapped to wireframe screens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709640" y="2800120"/>
            <a:ext cx="4160000" cy="880000"/>
          </a:xfrm>
          <a:prstGeom prst="rect">
            <a:avLst/>
          </a:prstGeom>
          <a:solidFill>
            <a:srgbClr val="FFFFFF"/>
          </a:solidFill>
          <a:ln cap="flat" cmpd="sng" w="180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12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Closing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Project wrap-up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0" y="0"/>
            <a:ext cx="9143700" cy="822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" name="Google Shape;88;p17"/>
          <p:cNvSpPr/>
          <p:nvPr/>
        </p:nvSpPr>
        <p:spPr>
          <a:xfrm>
            <a:off x="0" y="822960"/>
            <a:ext cx="9143700" cy="45600"/>
          </a:xfrm>
          <a:prstGeom prst="rect">
            <a:avLst/>
          </a:prstGeom>
          <a:solidFill>
            <a:srgbClr val="1A8A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" name="Google Shape;89;p17"/>
          <p:cNvSpPr/>
          <p:nvPr/>
        </p:nvSpPr>
        <p:spPr>
          <a:xfrm>
            <a:off x="320040" y="0"/>
            <a:ext cx="5799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7406880" y="228600"/>
            <a:ext cx="1508700" cy="320100"/>
          </a:xfrm>
          <a:prstGeom prst="roundRect">
            <a:avLst>
              <a:gd fmla="val 25000" name="adj"/>
            </a:avLst>
          </a:prstGeom>
          <a:solidFill>
            <a:srgbClr val="1A8A9A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274320" y="1188720"/>
            <a:ext cx="4160400" cy="331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algn="bl" dir="5400000" dist="20000">
              <a:srgbClr val="000000">
                <a:alpha val="588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" name="Google Shape;92;p17"/>
          <p:cNvSpPr/>
          <p:nvPr/>
        </p:nvSpPr>
        <p:spPr>
          <a:xfrm>
            <a:off x="274320" y="1188720"/>
            <a:ext cx="45600" cy="33171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" name="Google Shape;93;p17"/>
          <p:cNvSpPr/>
          <p:nvPr/>
        </p:nvSpPr>
        <p:spPr>
          <a:xfrm>
            <a:off x="365760" y="1234440"/>
            <a:ext cx="402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none" strike="noStrike">
                <a:solidFill>
                  <a:srgbClr val="1B2A4A"/>
                </a:solidFill>
                <a:latin typeface="Montserrat"/>
                <a:ea typeface="Montserrat"/>
                <a:cs typeface="Montserrat"/>
                <a:sym typeface="Montserrat"/>
              </a:rPr>
              <a:t>Objective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365760" y="1463040"/>
            <a:ext cx="4023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Expand on the</a:t>
            </a:r>
            <a:r>
              <a:rPr b="0" lang="en" sz="1000" u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database design concepts we learned in class by building a full database system for a fitness cente</a:t>
            </a:r>
            <a:r>
              <a:rPr lang="en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r.</a:t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365760" y="2057400"/>
            <a:ext cx="39324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" name="Google Shape;96;p17"/>
          <p:cNvSpPr/>
          <p:nvPr/>
        </p:nvSpPr>
        <p:spPr>
          <a:xfrm>
            <a:off x="365760" y="2103120"/>
            <a:ext cx="402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Deliverables </a:t>
            </a:r>
            <a:r>
              <a:rPr b="1" lang="en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lang="en" sz="140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b="1" lang="en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" sz="140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ompleted</a:t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365750" y="2331727"/>
            <a:ext cx="402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-228600" lvl="0" marL="2286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AutoNum type="arabicPeriod"/>
            </a:pPr>
            <a:r>
              <a:rPr b="0" lang="en" sz="1000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Conceptual EER Diagram</a:t>
            </a:r>
            <a:endParaRPr/>
          </a:p>
          <a:p>
            <a:pPr indent="-228600" lvl="0" marL="2286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AutoNum type="arabicPeriod"/>
            </a:pPr>
            <a:r>
              <a:rPr b="0" lang="en" sz="1000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Relational Data Structure Diagram (3NF)</a:t>
            </a:r>
            <a:endParaRPr/>
          </a:p>
          <a:p>
            <a:pPr indent="-228600" lvl="0" marL="2286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AutoNum type="arabicPeriod"/>
            </a:pPr>
            <a:r>
              <a:rPr b="0" lang="en" sz="1000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SQL: CREATE TABLE scripts</a:t>
            </a:r>
            <a:endParaRPr/>
          </a:p>
          <a:p>
            <a:pPr indent="-228600" lvl="0" marL="2286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AutoNum type="arabicPeriod"/>
            </a:pPr>
            <a:r>
              <a:rPr b="0" lang="en" sz="1000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SQL: INSERT sample data</a:t>
            </a:r>
            <a:endParaRPr/>
          </a:p>
          <a:p>
            <a:pPr indent="-228600" lvl="0" marL="2286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AutoNum type="arabicPeriod"/>
            </a:pPr>
            <a:r>
              <a:rPr b="0" lang="en" sz="1000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MongoDB Collections (Locations &amp; Coaches)</a:t>
            </a:r>
            <a:endParaRPr/>
          </a:p>
          <a:p>
            <a:pPr indent="-228600" lvl="0" marL="2286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AutoNum type="arabicPeriod"/>
            </a:pPr>
            <a:r>
              <a:rPr b="0" lang="en" sz="1000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SQL SELECT statements (4 wireframes)</a:t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4617960" y="1188720"/>
            <a:ext cx="2194500" cy="1600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0000" rotWithShape="0" algn="bl" dir="5400000" dist="200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" name="Google Shape;99;p17"/>
          <p:cNvSpPr/>
          <p:nvPr/>
        </p:nvSpPr>
        <p:spPr>
          <a:xfrm>
            <a:off x="4594660" y="1485680"/>
            <a:ext cx="2194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4594660" y="2193468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6949080" y="1188720"/>
            <a:ext cx="192030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algn="bl" dir="5400000" dist="20000">
              <a:srgbClr val="000000">
                <a:alpha val="588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" name="Google Shape;102;p17"/>
          <p:cNvSpPr/>
          <p:nvPr/>
        </p:nvSpPr>
        <p:spPr>
          <a:xfrm>
            <a:off x="6949080" y="1508518"/>
            <a:ext cx="1920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 strike="noStrike">
                <a:solidFill>
                  <a:srgbClr val="1A8A9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6995680" y="2193480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Wireframes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4617960" y="2834280"/>
            <a:ext cx="219450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algn="bl" dir="5400000" dist="20000">
              <a:srgbClr val="000000">
                <a:alpha val="588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" name="Google Shape;105;p17"/>
          <p:cNvSpPr/>
          <p:nvPr/>
        </p:nvSpPr>
        <p:spPr>
          <a:xfrm>
            <a:off x="4617960" y="2925000"/>
            <a:ext cx="2194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 strike="noStrike">
                <a:solidFill>
                  <a:srgbClr val="1A8A9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4617960" y="3610800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NoSQL</a:t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6949080" y="2834280"/>
            <a:ext cx="192030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algn="bl" dir="5400000" dist="20000">
              <a:srgbClr val="000000">
                <a:alpha val="588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" name="Google Shape;108;p17"/>
          <p:cNvSpPr/>
          <p:nvPr/>
        </p:nvSpPr>
        <p:spPr>
          <a:xfrm>
            <a:off x="6949080" y="2925000"/>
            <a:ext cx="1920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 strike="noStrike">
                <a:solidFill>
                  <a:srgbClr val="1A8A9A"/>
                </a:solidFill>
                <a:latin typeface="Calibri"/>
                <a:ea typeface="Calibri"/>
                <a:cs typeface="Calibri"/>
                <a:sym typeface="Calibri"/>
              </a:rPr>
              <a:t>3NF</a:t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6949080" y="3610800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Normal Form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Database Design &amp; Implementation for a Fitness Center</a:t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274320" y="1143000"/>
            <a:ext cx="4160520" cy="356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  <a:effectLst>
            <a:outerShdw blurRad="76320" rotWithShape="0" algn="bl" dir="8100000" dist="25455">
              <a:srgbClr val="000000">
                <a:alpha val="7843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/>
          </a:p>
        </p:txBody>
      </p:sp>
      <p:sp>
        <p:nvSpPr>
          <p:cNvPr id="122" name="Google Shape;122;p18"/>
          <p:cNvSpPr/>
          <p:nvPr/>
        </p:nvSpPr>
        <p:spPr>
          <a:xfrm>
            <a:off x="274320" y="1143000"/>
            <a:ext cx="164160" cy="356580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/>
          </a:p>
        </p:txBody>
      </p:sp>
      <p:sp>
        <p:nvSpPr>
          <p:cNvPr id="123" name="Google Shape;123;p18"/>
          <p:cNvSpPr/>
          <p:nvPr/>
        </p:nvSpPr>
        <p:spPr>
          <a:xfrm>
            <a:off x="548640" y="1234440"/>
            <a:ext cx="37951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7A8A"/>
              </a:buClr>
              <a:buSzPts val="1050"/>
              <a:buFont typeface="Calibri"/>
              <a:buChar char="•"/>
            </a:pPr>
            <a:r>
              <a:rPr b="0" lang="en" sz="1050" u="none" strike="noStrik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EER diagram: 6 strong entities, 2 weak entities, resolved with association tables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1A7A8A"/>
              </a:buClr>
              <a:buSzPts val="1050"/>
              <a:buFont typeface="Calibri"/>
              <a:buChar char="•"/>
            </a:pPr>
            <a:r>
              <a:rPr b="0" lang="en" sz="1050" u="none" strike="noStrik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Relational model: 14 tables, all normalized to 3NF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1A7A8A"/>
              </a:buClr>
              <a:buSzPts val="1050"/>
              <a:buFont typeface="Calibri"/>
              <a:buChar char="•"/>
            </a:pPr>
            <a:r>
              <a:rPr b="0" lang="en" sz="1050" u="none" strike="noStrik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SQL: CREATE TABLE with FK constraints, one INSERT per table to validate schema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1A7A8A"/>
              </a:buClr>
              <a:buSzPts val="1050"/>
              <a:buFont typeface="Calibri"/>
              <a:buChar char="•"/>
            </a:pPr>
            <a:r>
              <a:rPr b="0" lang="en" sz="1050" u="none" strike="noStrik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MongoDB: Locations and Coaches as embedded documents with arrays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1A7A8A"/>
              </a:buClr>
              <a:buSzPts val="1050"/>
              <a:buFont typeface="Calibri"/>
              <a:buChar char="•"/>
            </a:pPr>
            <a:r>
              <a:rPr b="0" lang="en" sz="1050" u="none" strike="noStrik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SELECT queries mapped to 4 wireframe app screens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30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Problem Context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A multi-location fitness center needs a system to track members, coaches, classes, locations, amenities, and certifications. Entities share complex many-to-many relationships requiring careful modeling to avoid redundancy and support real queries.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4617720" y="1143000"/>
            <a:ext cx="4251240" cy="35658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76320" rotWithShape="0" algn="bl" dir="8100000" dist="25455">
              <a:srgbClr val="000000">
                <a:alpha val="7843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/>
          </a:p>
        </p:txBody>
      </p:sp>
      <p:sp>
        <p:nvSpPr>
          <p:cNvPr id="125" name="Google Shape;125;p18"/>
          <p:cNvSpPr/>
          <p:nvPr/>
        </p:nvSpPr>
        <p:spPr>
          <a:xfrm>
            <a:off x="4800960" y="1234440"/>
            <a:ext cx="388656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Entities Modeled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Char char="•"/>
            </a:pPr>
            <a:r>
              <a:rPr b="0" lang="en" sz="1050" u="none" strike="noStrike">
                <a:solidFill>
                  <a:srgbClr val="E2E8EF"/>
                </a:solidFill>
                <a:latin typeface="Calibri"/>
                <a:ea typeface="Calibri"/>
                <a:cs typeface="Calibri"/>
                <a:sym typeface="Calibri"/>
              </a:rPr>
              <a:t>Member, Coach, Location, Class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Char char="•"/>
            </a:pPr>
            <a:r>
              <a:rPr b="0" lang="en" sz="1050" u="none" strike="noStrike">
                <a:solidFill>
                  <a:srgbClr val="E2E8EF"/>
                </a:solidFill>
                <a:latin typeface="Calibri"/>
                <a:ea typeface="Calibri"/>
                <a:cs typeface="Calibri"/>
                <a:sym typeface="Calibri"/>
              </a:rPr>
              <a:t>Amenity, Certificate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Char char="•"/>
            </a:pPr>
            <a:r>
              <a:rPr b="0" lang="en" sz="1050" u="none" strike="noStrike">
                <a:solidFill>
                  <a:srgbClr val="E2E8EF"/>
                </a:solidFill>
                <a:latin typeface="Calibri"/>
                <a:ea typeface="Calibri"/>
                <a:cs typeface="Calibri"/>
                <a:sym typeface="Calibri"/>
              </a:rPr>
              <a:t>Weak entities: Review, Reference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3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Tools and Technologies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Char char="•"/>
            </a:pPr>
            <a:r>
              <a:rPr b="0" lang="en" sz="1050" u="none" strike="noStrike">
                <a:solidFill>
                  <a:srgbClr val="E2E8EF"/>
                </a:solidFill>
                <a:latin typeface="Calibri"/>
                <a:ea typeface="Calibri"/>
                <a:cs typeface="Calibri"/>
                <a:sym typeface="Calibri"/>
              </a:rPr>
              <a:t>Draw.io for EER and relational diagrams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Char char="•"/>
            </a:pPr>
            <a:r>
              <a:rPr b="0" lang="en" sz="1050" u="none" strike="noStrike">
                <a:solidFill>
                  <a:srgbClr val="E2E8EF"/>
                </a:solidFill>
                <a:latin typeface="Calibri"/>
                <a:ea typeface="Calibri"/>
                <a:cs typeface="Calibri"/>
                <a:sym typeface="Calibri"/>
              </a:rPr>
              <a:t>SQLite for CREATE, INSERT, and SELECT statements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Char char="•"/>
            </a:pPr>
            <a:r>
              <a:rPr b="0" lang="en" sz="1050" u="none" strike="noStrike">
                <a:solidFill>
                  <a:srgbClr val="E2E8EF"/>
                </a:solidFill>
                <a:latin typeface="Calibri"/>
                <a:ea typeface="Calibri"/>
                <a:cs typeface="Calibri"/>
                <a:sym typeface="Calibri"/>
              </a:rPr>
              <a:t>MongoDB for NoSQL document collections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3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E2E8EF"/>
                </a:solidFill>
                <a:latin typeface="Calibri"/>
                <a:ea typeface="Calibri"/>
                <a:cs typeface="Calibri"/>
                <a:sym typeface="Calibri"/>
              </a:rPr>
              <a:t>Started from business rules, built the EER diagram, converted to relational, enforced 3NF across all tables, then implemented SQL and a MongoDB layer for flexible document storage.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Conceptual EER Diagram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Deliverable 1 — designed using Draw.io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CONCEPTUAL MODEL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ER_Model.png"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8595000" cy="388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/>
          <p:nvPr/>
        </p:nvSpPr>
        <p:spPr>
          <a:xfrm>
            <a:off x="0" y="4846320"/>
            <a:ext cx="9143640" cy="29232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274320" y="4846320"/>
            <a:ext cx="85950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 u="none" strike="noStrike">
                <a:solidFill>
                  <a:srgbClr val="E2E8EF"/>
                </a:solidFill>
                <a:latin typeface="Calibri"/>
                <a:ea typeface="Calibri"/>
                <a:cs typeface="Calibri"/>
                <a:sym typeface="Calibri"/>
              </a:rPr>
              <a:t>Strong entities: Member, Coach, Location, Class, Amenity, Certificate   |   Weak entities: Review, Reference   |   Association tables resolve many-to-many relationships</a:t>
            </a:r>
            <a:endParaRPr b="0" sz="8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Relational Model (3NF)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Deliverable 2 — ER to Relational conversion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RELATIONAL MODEL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RM_Model.png"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14400"/>
            <a:ext cx="4571640" cy="40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/>
          <p:nvPr/>
        </p:nvSpPr>
        <p:spPr>
          <a:xfrm>
            <a:off x="5074920" y="914400"/>
            <a:ext cx="3794400" cy="406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  <a:effectLst>
            <a:outerShdw blurRad="76320" rotWithShape="0" algn="bl" dir="8100000" dist="25455">
              <a:srgbClr val="000000">
                <a:alpha val="7843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5074920" y="914400"/>
            <a:ext cx="164160" cy="406872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5349240" y="1024200"/>
            <a:ext cx="340128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Third Normal Form (3NF)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5349240" y="1389960"/>
            <a:ext cx="3401280" cy="2377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050"/>
              <a:buFont typeface="Noto Sans Symbols"/>
              <a:buChar char="∙"/>
            </a:pPr>
            <a:r>
              <a:rPr b="0" lang="en" sz="1050" u="none" strike="noStrik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1NF: All attributes are atomic, no repeating groups.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D1B2E"/>
              </a:buClr>
              <a:buSzPts val="1050"/>
              <a:buFont typeface="Noto Sans Symbols"/>
              <a:buChar char="∙"/>
            </a:pPr>
            <a:r>
              <a:rPr b="0" lang="en" sz="1050" u="none" strike="noStrik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2NF: Every non-key attribute depends on the full primary key.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D1B2E"/>
              </a:buClr>
              <a:buSzPts val="1050"/>
              <a:buFont typeface="Noto Sans Symbols"/>
              <a:buChar char="∙"/>
            </a:pPr>
            <a:r>
              <a:rPr b="0" lang="en" sz="1050" u="none" strike="noStrik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3NF: No transitive dependencies — attributes depend only on the PK.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D1B2E"/>
              </a:buClr>
              <a:buSzPts val="1050"/>
              <a:buFont typeface="Noto Sans Symbols"/>
              <a:buChar char="∙"/>
            </a:pPr>
            <a:r>
              <a:rPr b="0" lang="en" sz="1050" u="none" strike="noStrik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Association tables (Member_Coach, Location_Amenity, etc.) use composite PKs to resolve many-to-many relationships.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D1B2E"/>
              </a:buClr>
              <a:buSzPts val="1050"/>
              <a:buFont typeface="Noto Sans Symbols"/>
              <a:buChar char="∙"/>
            </a:pPr>
            <a:r>
              <a:rPr b="0" lang="en" sz="1050" u="none" strike="noStrik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avgRating and overallRating are derived attributes, kept for query performance.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5257800" y="3730680"/>
            <a:ext cx="3492720" cy="1115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5257800" y="3776400"/>
            <a:ext cx="34927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14 Tables Total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5349240" y="4114800"/>
            <a:ext cx="3309840" cy="65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 u="none" strike="noStrike">
                <a:solidFill>
                  <a:srgbClr val="E2E8EF"/>
                </a:solidFill>
                <a:latin typeface="Calibri"/>
                <a:ea typeface="Calibri"/>
                <a:cs typeface="Calibri"/>
                <a:sym typeface="Calibri"/>
              </a:rPr>
              <a:t>Member, Coach, Location, Amenity, Certificate, Class, Review, Reference_, Member_Coach, Class_Enrollment, Coach_Certificate, Location_Coach, Location_Amenity, Member_Visit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SQL: CREATE TABLE Scripts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Deliverable 3 — enforcing constraints and relationships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IMPLEMENTATION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274320" y="1005840"/>
            <a:ext cx="4205880" cy="3200040"/>
          </a:xfrm>
          <a:prstGeom prst="rect">
            <a:avLst/>
          </a:prstGeom>
          <a:solidFill>
            <a:srgbClr val="0D1B2E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384120" y="1078920"/>
            <a:ext cx="3986280" cy="30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CREATE TABLE Member (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memberID  INTEGER PRIMARY KEY,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firstName TEXT NOT NULL,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lastName  TEXT NOT NULL,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email     TEXT NOT NULL UNIQUE,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phone     TEXT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CREATE TABLE Coach (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coachID   INTEGER PRIMARY KEY,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firstName TEXT NOT NULL,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lastName  TEXT NOT NULL,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level     TEXT,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avgRating REAL,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trainingPhilosophy TEXT,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photo     TEXT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4663440" y="1005840"/>
            <a:ext cx="4205880" cy="3200040"/>
          </a:xfrm>
          <a:prstGeom prst="rect">
            <a:avLst/>
          </a:prstGeom>
          <a:solidFill>
            <a:srgbClr val="0D1B2E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4773240" y="1078920"/>
            <a:ext cx="3986280" cy="30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CREATE TABLE Location (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locationID   INTEGER PRIMARY KEY,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locationName TEXT NOT NULL,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address      TEXT NOT NULL,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telephone    TEXT,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email        TEXT,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photo        TEXT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CREATE TABLE Location_Coach (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locationID INTEGER NOT NULL,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coachID    INTEGER NOT NULL,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PRIMARY KEY (locationID, coachID),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FOREIGN KEY (locationID)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  REFERENCES Location(locationID),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FOREIGN KEY (coachID)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  REFERENCES Coach(coachID)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274320" y="4343400"/>
            <a:ext cx="8595000" cy="594000"/>
          </a:xfrm>
          <a:prstGeom prst="rect">
            <a:avLst/>
          </a:prstGeom>
          <a:solidFill>
            <a:srgbClr val="E2E8EF"/>
          </a:solidFill>
          <a:ln cap="flat" cmpd="sng" w="127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457200" y="4370760"/>
            <a:ext cx="822924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All 14 tables follow the same pattern. Foreign key constraints enforce referential integrity. Association tables use composite primary keys.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SQL: INSERT Sample Data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Deliverable 4 — one row per table to validate structure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IMPLEMENTATION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274320" y="1005840"/>
            <a:ext cx="8595000" cy="3382920"/>
          </a:xfrm>
          <a:prstGeom prst="rect">
            <a:avLst/>
          </a:prstGeom>
          <a:solidFill>
            <a:srgbClr val="0D1B2E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384120" y="1078920"/>
            <a:ext cx="8375400" cy="323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-- Sample Member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INSERT INTO Member (memberID, firstName, lastName, email, phone)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VALUES (1, 'Alex', 'Johnson', 'alex.j@email.com', '647-555-0101');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-- Sample Coach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INSERT INTO Coach (coachID, firstName, lastName, level, avgRating, trainingPhilosophy)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VALUES (1, 'Jordan', 'Park', 'Senior', 4.8, 'Strength-first progressive overload');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-- Sample Location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INSERT INTO Location (locationID, locationName, address, telephone, email)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VALUES (1, 'Downtown Hub', '123 King St W, Toronto, ON', '416-555-1001', 'downtown@gym.com');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-- Sample Class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INSERT INTO Class (classID, className, price, dayOfWeek, startTime, coachID, locationID)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VALUES (1, 'Morning HIIT', 20.00, 'Monday', '07:00', 1, 1);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-- Link Member to Coach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INSERT INTO Member_Coach (memberID, coachID, assignedDate)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VALUES (1, 1, '2024-01-15');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274320" y="4526280"/>
            <a:ext cx="8595000" cy="41112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457200" y="4526280"/>
            <a:ext cx="822924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INSERT row was added to every table to confirm schema validity and test foreign key constraints.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 Collections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Deliverable 5 — Locations and Coaches as NoSQL documents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NOSQL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274320" y="1005840"/>
            <a:ext cx="5028840" cy="3885840"/>
          </a:xfrm>
          <a:prstGeom prst="rect">
            <a:avLst/>
          </a:prstGeom>
          <a:solidFill>
            <a:srgbClr val="0D1B2E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384120" y="1078920"/>
            <a:ext cx="4809240" cy="373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use("fitness_center");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db.createCollection("locations");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db.locations.insertOne({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locationID: 1,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locationName: "Downtown Hub",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address: "123 King St W, Toronto, ON",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telephone: "416-555-1001",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amenities: ["Swimming Pool", "Sauna", "Spin Studio"]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db.createCollection("coaches");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db.coaches.insertOne({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coachID: 1,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firstName: "Jordan", lastName: "Park",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level: "Senior", avgRating: 4.8,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locations: ["Downtown Hub"],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certificates: [{ certID: 1, dateObtained: "2018-06-15" }],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references: [{ clientName: "Marcus Reid",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                 clientEmail: "mreid@corp.com" }]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 u="none" strike="noStrike">
                <a:solidFill>
                  <a:srgbClr val="B8D4E8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532120" y="1005840"/>
            <a:ext cx="3337200" cy="388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320" rotWithShape="0" algn="bl" dir="8100000" dist="25455">
              <a:srgbClr val="000000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5669280" y="1143000"/>
            <a:ext cx="30628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Why MongoDB?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5669280" y="1536120"/>
            <a:ext cx="3062880" cy="30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EF"/>
              </a:buClr>
              <a:buSzPts val="1050"/>
              <a:buFont typeface="Noto Sans Symbols"/>
              <a:buChar char="∙"/>
            </a:pPr>
            <a:r>
              <a:rPr b="0" lang="en" sz="1050" u="none" strike="noStrike">
                <a:solidFill>
                  <a:srgbClr val="E2E8EF"/>
                </a:solidFill>
                <a:latin typeface="Calibri"/>
                <a:ea typeface="Calibri"/>
                <a:cs typeface="Calibri"/>
                <a:sym typeface="Calibri"/>
              </a:rPr>
              <a:t>Amenities and certificates are variable-length arrays, ideal for document storage.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E2E8EF"/>
              </a:buClr>
              <a:buSzPts val="1050"/>
              <a:buFont typeface="Noto Sans Symbols"/>
              <a:buChar char="∙"/>
            </a:pPr>
            <a:r>
              <a:rPr b="0" lang="en" sz="1050" u="none" strike="noStrike">
                <a:solidFill>
                  <a:srgbClr val="E2E8EF"/>
                </a:solidFill>
                <a:latin typeface="Calibri"/>
                <a:ea typeface="Calibri"/>
                <a:cs typeface="Calibri"/>
                <a:sym typeface="Calibri"/>
              </a:rPr>
              <a:t>Avoids extra junction tables required in relational SQL.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E2E8EF"/>
              </a:buClr>
              <a:buSzPts val="1050"/>
              <a:buFont typeface="Noto Sans Symbols"/>
              <a:buChar char="∙"/>
            </a:pPr>
            <a:r>
              <a:rPr b="0" lang="en" sz="1050" u="none" strike="noStrike">
                <a:solidFill>
                  <a:srgbClr val="E2E8EF"/>
                </a:solidFill>
                <a:latin typeface="Calibri"/>
                <a:ea typeface="Calibri"/>
                <a:cs typeface="Calibri"/>
                <a:sym typeface="Calibri"/>
              </a:rPr>
              <a:t>Locations and Coaches are self-contained documents, making reads faster.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E2E8EF"/>
              </a:buClr>
              <a:buSzPts val="1050"/>
              <a:buFont typeface="Noto Sans Symbols"/>
              <a:buChar char="∙"/>
            </a:pPr>
            <a:r>
              <a:rPr b="0" lang="en" sz="1050" u="none" strike="noStrike">
                <a:solidFill>
                  <a:srgbClr val="E2E8EF"/>
                </a:solidFill>
                <a:latin typeface="Calibri"/>
                <a:ea typeface="Calibri"/>
                <a:cs typeface="Calibri"/>
                <a:sym typeface="Calibri"/>
              </a:rPr>
              <a:t>Demonstrates polyglot persistence: SQL for structured data, MongoDB for flexible embedded data.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SELECT Statements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Deliverable 6 — queries mapped to 4 wireframe screens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 QUERIES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228600" y="1005840"/>
            <a:ext cx="4205880" cy="1874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  <a:effectLst>
            <a:outerShdw blurRad="50760" rotWithShape="0" algn="bl" dir="8100000" dist="12218">
              <a:srgbClr val="000000">
                <a:alpha val="7058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228600" y="1005840"/>
            <a:ext cx="145800" cy="187416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457200" y="1069920"/>
            <a:ext cx="38858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Wireframe 1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457200" y="1252800"/>
            <a:ext cx="38858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Locations Tab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429840" y="1499760"/>
            <a:ext cx="3913200" cy="1279800"/>
          </a:xfrm>
          <a:prstGeom prst="rect">
            <a:avLst/>
          </a:prstGeom>
          <a:solidFill>
            <a:srgbClr val="0D1B2E"/>
          </a:solidFill>
          <a:ln cap="flat" cmpd="sng" w="12700">
            <a:solidFill>
              <a:srgbClr val="0D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484560" y="1536120"/>
            <a:ext cx="3803400" cy="120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SELECT l.locationName,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  SUM(mv.visitCount) AS timesVisited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FROM Member_Visit mv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JOIN Location l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  ON l.locationID = mv.locationID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WHERE mv.memberID = 1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  AND strftime('%Y-%m', mv.visitDate)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      = strftime('%Y-%m', 'now')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GROUP BY l.locationID;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4663440" y="1005840"/>
            <a:ext cx="4205880" cy="1874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  <a:effectLst>
            <a:outerShdw blurRad="50760" rotWithShape="0" algn="bl" dir="8100000" dist="12218">
              <a:srgbClr val="000000">
                <a:alpha val="7058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4663440" y="1005840"/>
            <a:ext cx="145800" cy="187416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4892040" y="1069920"/>
            <a:ext cx="38858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Wireframe 2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892040" y="1252800"/>
            <a:ext cx="38858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Midtown Location Tab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4864680" y="1499760"/>
            <a:ext cx="3913200" cy="1279800"/>
          </a:xfrm>
          <a:prstGeom prst="rect">
            <a:avLst/>
          </a:prstGeom>
          <a:solidFill>
            <a:srgbClr val="0D1B2E"/>
          </a:solidFill>
          <a:ln cap="flat" cmpd="sng" w="12700">
            <a:solidFill>
              <a:srgbClr val="0D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4919400" y="1536120"/>
            <a:ext cx="3803400" cy="120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SELECT locationName, address,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       telephone, email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FROM Location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WHERE locationName = 'Midtown Studio';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SELECT a.amenityName FROM Amenity a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JOIN Location_Amenity la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  ON la.amenityID = a.amenityID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JOIN Location l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  ON l.locationID = la.locationID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WHERE l.locationName = 'Midtown Studio';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228600" y="3017520"/>
            <a:ext cx="4205880" cy="1874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  <a:effectLst>
            <a:outerShdw blurRad="50760" rotWithShape="0" algn="bl" dir="8100000" dist="12218">
              <a:srgbClr val="000000">
                <a:alpha val="7058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228600" y="3017520"/>
            <a:ext cx="145800" cy="187416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457200" y="3081600"/>
            <a:ext cx="38858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Wireframe 3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457200" y="3264480"/>
            <a:ext cx="38858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Coaches Tab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429840" y="3511440"/>
            <a:ext cx="3913200" cy="1279800"/>
          </a:xfrm>
          <a:prstGeom prst="rect">
            <a:avLst/>
          </a:prstGeom>
          <a:solidFill>
            <a:srgbClr val="0D1B2E"/>
          </a:solidFill>
          <a:ln cap="flat" cmpd="sng" w="12700">
            <a:solidFill>
              <a:srgbClr val="0D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484560" y="3547800"/>
            <a:ext cx="3803400" cy="120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-- My Coaches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SELECT c.firstName, c.lastName,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       c.level, c.avgRating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FROM Coach c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JOIN Member_Coach mc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  ON mc.coachID = c.coachID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WHERE mc.memberID = 1;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-- All Coaches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SELECT firstName, lastName,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       level, avgRating FROM Coach;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4663440" y="3017520"/>
            <a:ext cx="4205880" cy="1874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EF"/>
            </a:solidFill>
            <a:prstDash val="solid"/>
            <a:round/>
            <a:headEnd len="sm" w="sm" type="none"/>
            <a:tailEnd len="sm" w="sm" type="none"/>
          </a:ln>
          <a:effectLst>
            <a:outerShdw blurRad="50760" rotWithShape="0" algn="bl" dir="8100000" dist="12218">
              <a:srgbClr val="000000">
                <a:alpha val="7058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4663440" y="3017520"/>
            <a:ext cx="145800" cy="187416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4892040" y="3081600"/>
            <a:ext cx="38858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none" strike="noStrike">
                <a:solidFill>
                  <a:srgbClr val="1A7A8A"/>
                </a:solidFill>
                <a:latin typeface="Calibri"/>
                <a:ea typeface="Calibri"/>
                <a:cs typeface="Calibri"/>
                <a:sym typeface="Calibri"/>
              </a:rPr>
              <a:t>Wireframe 4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4892040" y="3264480"/>
            <a:ext cx="38858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 u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Coach Profile Tab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4864680" y="3511440"/>
            <a:ext cx="3913200" cy="1279800"/>
          </a:xfrm>
          <a:prstGeom prst="rect">
            <a:avLst/>
          </a:prstGeom>
          <a:solidFill>
            <a:srgbClr val="0D1B2E"/>
          </a:solidFill>
          <a:ln cap="flat" cmpd="sng" w="12700">
            <a:solidFill>
              <a:srgbClr val="0D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4919400" y="3547800"/>
            <a:ext cx="3803400" cy="120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SELECT firstName, lastName, level,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  avgRating, trainingPhilosophy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FROM Coach WHERE coachID = 1;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SELECT cert.certName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FROM Certificate cert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JOIN Coach_Certificate cc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  ON cc.certID = cert.certID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 u="none" strike="noStrike">
                <a:solidFill>
                  <a:srgbClr val="8ABFE8"/>
                </a:solidFill>
                <a:latin typeface="Consolas"/>
                <a:ea typeface="Consolas"/>
                <a:cs typeface="Consolas"/>
                <a:sym typeface="Consolas"/>
              </a:rPr>
              <a:t>WHERE cc.coachID = 1;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0"/>
            <a:ext cx="273960" cy="514332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1A7A8A"/>
          </a:solidFill>
          <a:ln cap="flat" cmpd="sng" w="12700">
            <a:solidFill>
              <a:srgbClr val="1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48640" y="1309184"/>
            <a:ext cx="813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u="none" strike="noStrike">
                <a:solidFill>
                  <a:srgbClr val="2A9BAD"/>
                </a:solidFill>
                <a:latin typeface="Calibri"/>
                <a:ea typeface="Calibri"/>
                <a:cs typeface="Calibri"/>
                <a:sym typeface="Calibri"/>
              </a:rPr>
              <a:t>Week 13 Presentation</a:t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548640" y="1609184"/>
            <a:ext cx="81399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Design &amp; Implementation</a:t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548640" y="2289184"/>
            <a:ext cx="8139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 u="none" strike="noStrike">
                <a:solidFill>
                  <a:srgbClr val="2A9BAD"/>
                </a:solidFill>
                <a:latin typeface="Calibri"/>
                <a:ea typeface="Calibri"/>
                <a:cs typeface="Calibri"/>
                <a:sym typeface="Calibri"/>
              </a:rPr>
              <a:t>for a Fitness Center</a:t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2800000" y="2769184"/>
            <a:ext cx="3540000" cy="3600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3" name="Google Shape;253;p25"/>
          <p:cNvSpPr/>
          <p:nvPr/>
        </p:nvSpPr>
        <p:spPr>
          <a:xfrm>
            <a:off x="548640" y="2925054"/>
            <a:ext cx="813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Marcus Podnar and Nickolas Gabrialovitch</a:t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548640" y="3345054"/>
            <a:ext cx="8139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